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c1afc2ea94c67" /><Relationship Type="http://schemas.openxmlformats.org/officeDocument/2006/relationships/extended-properties" Target="/docProps/app.xml" Id="Recb172869e5e4fa8" /><Relationship Type="http://schemas.openxmlformats.org/officeDocument/2006/relationships/officeDocument" Target="/ppt/presentation.xml" Id="R94cf966b852b4f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697aabd82454c"/>
  </p:sldMasterIdLst>
  <p:notesMasterIdLst>
    <p:notesMasterId xmlns:r="http://schemas.openxmlformats.org/officeDocument/2006/relationships" r:id="R0dfede6feadd40b9"/>
  </p:notesMasterIdLst>
  <p:sldIdLst>
    <p:sldId xmlns:r="http://schemas.openxmlformats.org/officeDocument/2006/relationships" id="256" r:id="R582787699f9243b2"/>
    <p:sldId xmlns:r="http://schemas.openxmlformats.org/officeDocument/2006/relationships" id="257" r:id="Rd1cf6957f1554ae3"/>
    <p:sldId xmlns:r="http://schemas.openxmlformats.org/officeDocument/2006/relationships" id="258" r:id="R0e10bcd807ba4487"/>
    <p:sldId xmlns:r="http://schemas.openxmlformats.org/officeDocument/2006/relationships" id="259" r:id="R49b11795d63f442b"/>
    <p:sldId xmlns:r="http://schemas.openxmlformats.org/officeDocument/2006/relationships" id="260" r:id="Reb4d298f2a2e400a"/>
    <p:sldId xmlns:r="http://schemas.openxmlformats.org/officeDocument/2006/relationships" id="261" r:id="R0d0f2ab087174e47"/>
    <p:sldId xmlns:r="http://schemas.openxmlformats.org/officeDocument/2006/relationships" id="262" r:id="R6d1e662bfc5443e5"/>
    <p:sldId xmlns:r="http://schemas.openxmlformats.org/officeDocument/2006/relationships" id="263" r:id="R910a6609b15b465f"/>
    <p:sldId xmlns:r="http://schemas.openxmlformats.org/officeDocument/2006/relationships" id="264" r:id="R1953fe7ce5434b49"/>
    <p:sldId xmlns:r="http://schemas.openxmlformats.org/officeDocument/2006/relationships" id="265" r:id="R07476fd58ca347c6"/>
    <p:sldId xmlns:r="http://schemas.openxmlformats.org/officeDocument/2006/relationships" id="266" r:id="R47d6165d50704d32"/>
    <p:sldId xmlns:r="http://schemas.openxmlformats.org/officeDocument/2006/relationships" id="267" r:id="Rd044d902393c4998"/>
    <p:sldId xmlns:r="http://schemas.openxmlformats.org/officeDocument/2006/relationships" id="268" r:id="Rdef08ddbaf824b6e"/>
    <p:sldId xmlns:r="http://schemas.openxmlformats.org/officeDocument/2006/relationships" id="269" r:id="Ra9a016e32b1b490d"/>
    <p:sldId xmlns:r="http://schemas.openxmlformats.org/officeDocument/2006/relationships" id="270" r:id="R7957ba0eebb843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75d30affd4bb7" /><Relationship Type="http://schemas.openxmlformats.org/officeDocument/2006/relationships/slideMaster" Target="/ppt/slideMasters/slideMaster1.xml" Id="Re21697aabd82454c" /><Relationship Type="http://schemas.openxmlformats.org/officeDocument/2006/relationships/notesMaster" Target="/ppt/notesMasters/notesMaster1.xml" Id="R0dfede6feadd40b9" /><Relationship Type="http://schemas.openxmlformats.org/officeDocument/2006/relationships/presProps" Target="/ppt/presProps.xml" Id="Rc280040c5bc844fa" /><Relationship Type="http://schemas.openxmlformats.org/officeDocument/2006/relationships/tableStyles" Target="/ppt/tableStyles.xml" Id="R41decd6337a34a0a" /><Relationship Type="http://schemas.openxmlformats.org/officeDocument/2006/relationships/slide" Target="/ppt/slides/slide1.xml" Id="R582787699f9243b2" /><Relationship Type="http://schemas.openxmlformats.org/officeDocument/2006/relationships/slide" Target="/ppt/slides/slide2.xml" Id="Rd1cf6957f1554ae3" /><Relationship Type="http://schemas.openxmlformats.org/officeDocument/2006/relationships/slide" Target="/ppt/slides/slide3.xml" Id="R0e10bcd807ba4487" /><Relationship Type="http://schemas.openxmlformats.org/officeDocument/2006/relationships/slide" Target="/ppt/slides/slide4.xml" Id="R49b11795d63f442b" /><Relationship Type="http://schemas.openxmlformats.org/officeDocument/2006/relationships/slide" Target="/ppt/slides/slide5.xml" Id="Reb4d298f2a2e400a" /><Relationship Type="http://schemas.openxmlformats.org/officeDocument/2006/relationships/slide" Target="/ppt/slides/slide6.xml" Id="R0d0f2ab087174e47" /><Relationship Type="http://schemas.openxmlformats.org/officeDocument/2006/relationships/slide" Target="/ppt/slides/slide7.xml" Id="R6d1e662bfc5443e5" /><Relationship Type="http://schemas.openxmlformats.org/officeDocument/2006/relationships/slide" Target="/ppt/slides/slide8.xml" Id="R910a6609b15b465f" /><Relationship Type="http://schemas.openxmlformats.org/officeDocument/2006/relationships/slide" Target="/ppt/slides/slide9.xml" Id="R1953fe7ce5434b49" /><Relationship Type="http://schemas.openxmlformats.org/officeDocument/2006/relationships/slide" Target="/ppt/slides/slide10.xml" Id="R07476fd58ca347c6" /><Relationship Type="http://schemas.openxmlformats.org/officeDocument/2006/relationships/slide" Target="/ppt/slides/slide11.xml" Id="R47d6165d50704d32" /><Relationship Type="http://schemas.openxmlformats.org/officeDocument/2006/relationships/slide" Target="/ppt/slides/slide12.xml" Id="Rd044d902393c4998" /><Relationship Type="http://schemas.openxmlformats.org/officeDocument/2006/relationships/slide" Target="/ppt/slides/slide13.xml" Id="Rdef08ddbaf824b6e" /><Relationship Type="http://schemas.openxmlformats.org/officeDocument/2006/relationships/slide" Target="/ppt/slides/slide14.xml" Id="Ra9a016e32b1b490d" /><Relationship Type="http://schemas.openxmlformats.org/officeDocument/2006/relationships/slide" Target="/ppt/slides/slide15.xml" Id="R7957ba0eebb843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b9c4733b7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平安橘红与暖灰">
      <a:dk1>
        <a:srgbClr val="333333"/>
      </a:dk1>
      <a:lt1>
        <a:srgbClr val="FFFFFF"/>
      </a:lt1>
      <a:dk2>
        <a:srgbClr val="9F4B20"/>
      </a:dk2>
      <a:lt2>
        <a:srgbClr val="FFF1E8"/>
      </a:lt2>
      <a:accent1>
        <a:srgbClr val="EA5A26"/>
      </a:accent1>
      <a:accent2>
        <a:srgbClr val="9F4B20"/>
      </a:accent2>
      <a:accent3>
        <a:srgbClr val="FFF1E8"/>
      </a:accent3>
      <a:accent4>
        <a:srgbClr val="888888"/>
      </a:accent4>
      <a:accent5>
        <a:srgbClr val="F2F2F2"/>
      </a:accent5>
      <a:accent6>
        <a:srgbClr val="C7C9C9"/>
      </a:accent6>
      <a:hlink>
        <a:srgbClr val="EA5A26"/>
      </a:hlink>
      <a:folHlink>
        <a:srgbClr val="9F4B20"/>
      </a:folHlink>
    </a:clrScheme>
    <a:fontScheme name="">
      <a:majorFont>
        <a:latin typeface="华文楷体"/>
        <a:ea typeface=""/>
        <a:cs typeface=""/>
      </a:majorFont>
      <a:minorFont>
        <a:latin typeface="华文楷体"/>
        <a:ea typeface=""/>
        <a:cs typeface=""/>
      </a:minorFont>
    </a:fontScheme>
    <a:fmtScheme name="平安橘红与暖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80eb90e504adf" /><Relationship Type="http://schemas.openxmlformats.org/officeDocument/2006/relationships/notesMaster" Target="/ppt/notesMasters/notesMaster1.xml" Id="R45516d0322fc45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6a89fe4684d16" /><Relationship Type="http://schemas.openxmlformats.org/officeDocument/2006/relationships/notesMaster" Target="/ppt/notesMasters/notesMaster1.xml" Id="R272f3301f33c46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c486db59b74f86" /><Relationship Type="http://schemas.openxmlformats.org/officeDocument/2006/relationships/notesMaster" Target="/ppt/notesMasters/notesMaster1.xml" Id="R59535a0f22ab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53798f0c143f7" /><Relationship Type="http://schemas.openxmlformats.org/officeDocument/2006/relationships/notesMaster" Target="/ppt/notesMasters/notesMaster1.xml" Id="Rb231f044031340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68677ea5114fc2" /><Relationship Type="http://schemas.openxmlformats.org/officeDocument/2006/relationships/notesMaster" Target="/ppt/notesMasters/notesMaster1.xml" Id="R7096953140db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b87e3a15c43dc" /><Relationship Type="http://schemas.openxmlformats.org/officeDocument/2006/relationships/notesMaster" Target="/ppt/notesMasters/notesMaster1.xml" Id="Ra61d5dd076e54b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c07637b40f407a" /><Relationship Type="http://schemas.openxmlformats.org/officeDocument/2006/relationships/notesMaster" Target="/ppt/notesMasters/notesMaster1.xml" Id="Rf8016b02d0e845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56fbb94f9b4a47" /><Relationship Type="http://schemas.openxmlformats.org/officeDocument/2006/relationships/notesMaster" Target="/ppt/notesMasters/notesMaster1.xml" Id="Radf85ab534df46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f515287c964bb4" /><Relationship Type="http://schemas.openxmlformats.org/officeDocument/2006/relationships/notesMaster" Target="/ppt/notesMasters/notesMaster1.xml" Id="R21b84d0c1c9440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0ad2088b194f7f" /><Relationship Type="http://schemas.openxmlformats.org/officeDocument/2006/relationships/notesMaster" Target="/ppt/notesMasters/notesMaster1.xml" Id="Rc3939058ba654d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80c982f3834a37" /><Relationship Type="http://schemas.openxmlformats.org/officeDocument/2006/relationships/notesMaster" Target="/ppt/notesMasters/notesMaster1.xml" Id="R182bc19567bb4d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9f5716bdb947ff" /><Relationship Type="http://schemas.openxmlformats.org/officeDocument/2006/relationships/notesMaster" Target="/ppt/notesMasters/notesMaster1.xml" Id="R87cb8f6d059a45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dde695f45f4838" /><Relationship Type="http://schemas.openxmlformats.org/officeDocument/2006/relationships/notesMaster" Target="/ppt/notesMasters/notesMaster1.xml" Id="Re9c8e8e5c4ae4d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456269da94441b" /><Relationship Type="http://schemas.openxmlformats.org/officeDocument/2006/relationships/notesMaster" Target="/ppt/notesMasters/notesMaster1.xml" Id="R29f0f710150441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6b3ff64e3c4c4c" /><Relationship Type="http://schemas.openxmlformats.org/officeDocument/2006/relationships/notesMaster" Target="/ppt/notesMasters/notesMaster1.xml" Id="R70e540481edb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2f843a22e43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ab14053884a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a42c7c6554e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a4e2b0b0d4e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fc64e46dd45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3c0a36a5041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9A7311-FE6C-4F0E-A8CA-5D8E8B275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2616B7-3427-41A6-A6A7-E8AE94F824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854680-7A7C-4D57-8119-F25C89BD0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45BEAF-44C7-4CCB-B577-B33FE00A0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7755AED-FE6D-483F-8848-C4C1AEC43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46DB14-A60B-448E-869F-51B35DAE2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027127-8338-4FD2-A458-3BB858301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746F10-4CD7-4E7C-985F-2D7B998834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475A6D-63C1-40EF-BBA7-C555DBC9C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CCB51C-E2E7-4F9D-817D-6EAB98F79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5a9f86e26422c" /><Relationship Type="http://schemas.openxmlformats.org/officeDocument/2006/relationships/slideLayout" Target="/ppt/slideLayouts/slideLayout1.xml" Id="R1ff5bd53afa54117" /><Relationship Type="http://schemas.openxmlformats.org/officeDocument/2006/relationships/slideLayout" Target="/ppt/slideLayouts/slideLayout2.xml" Id="R4b75ffc326a744be" /><Relationship Type="http://schemas.openxmlformats.org/officeDocument/2006/relationships/slideLayout" Target="/ppt/slideLayouts/slideLayout3.xml" Id="R387aab5afa4b4ee4" /><Relationship Type="http://schemas.openxmlformats.org/officeDocument/2006/relationships/slideLayout" Target="/ppt/slideLayouts/slideLayout4.xml" Id="Rf6546caafac04d7a" /><Relationship Type="http://schemas.openxmlformats.org/officeDocument/2006/relationships/slideLayout" Target="/ppt/slideLayouts/slideLayout5.xml" Id="Rd7095230abd840af" /><Relationship Type="http://schemas.openxmlformats.org/officeDocument/2006/relationships/slideLayout" Target="/ppt/slideLayouts/slideLayout6.xml" Id="Rf6f7cab2611c4f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5bd53afa54117"/>
    <p:sldLayoutId xmlns:r="http://schemas.openxmlformats.org/officeDocument/2006/relationships" id="2147483650" r:id="R4b75ffc326a744be"/>
    <p:sldLayoutId xmlns:r="http://schemas.openxmlformats.org/officeDocument/2006/relationships" id="2147483651" r:id="R387aab5afa4b4ee4"/>
    <p:sldLayoutId xmlns:r="http://schemas.openxmlformats.org/officeDocument/2006/relationships" id="2147483652" r:id="Rf6546caafac04d7a"/>
    <p:sldLayoutId xmlns:r="http://schemas.openxmlformats.org/officeDocument/2006/relationships" id="2147483653" r:id="Rd7095230abd840af"/>
    <p:sldLayoutId xmlns:r="http://schemas.openxmlformats.org/officeDocument/2006/relationships" id="2147483654" r:id="Rf6f7cab2611c4f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平安橘红与暖灰">
      <a:dk1>
        <a:srgbClr val="333333"/>
      </a:dk1>
      <a:lt1>
        <a:srgbClr val="FFFFFF"/>
      </a:lt1>
      <a:dk2>
        <a:srgbClr val="9F4B20"/>
      </a:dk2>
      <a:lt2>
        <a:srgbClr val="FFF1E8"/>
      </a:lt2>
      <a:accent1>
        <a:srgbClr val="EA5A26"/>
      </a:accent1>
      <a:accent2>
        <a:srgbClr val="9F4B20"/>
      </a:accent2>
      <a:accent3>
        <a:srgbClr val="FFF1E8"/>
      </a:accent3>
      <a:accent4>
        <a:srgbClr val="888888"/>
      </a:accent4>
      <a:accent5>
        <a:srgbClr val="F2F2F2"/>
      </a:accent5>
      <a:accent6>
        <a:srgbClr val="C7C9C9"/>
      </a:accent6>
      <a:hlink>
        <a:srgbClr val="EA5A26"/>
      </a:hlink>
      <a:folHlink>
        <a:srgbClr val="9F4B20"/>
      </a:folHlink>
    </a:clrScheme>
    <a:fontScheme name="">
      <a:majorFont>
        <a:latin typeface="华文楷体"/>
        <a:ea typeface=""/>
        <a:cs typeface=""/>
      </a:majorFont>
      <a:minorFont>
        <a:latin typeface="华文楷体"/>
        <a:ea typeface=""/>
        <a:cs typeface=""/>
      </a:minorFont>
    </a:fontScheme>
    <a:fmtScheme name="平安橘红与暖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ece690ec84c6b" /><Relationship Type="http://schemas.openxmlformats.org/officeDocument/2006/relationships/image" Target="/ppt/media/image.png" Id="R7c3d9ce024224923" /><Relationship Type="http://schemas.openxmlformats.org/officeDocument/2006/relationships/notesSlide" Target="/ppt/notesSlides/notesSlide1.xml" Id="Rdfeae872c9c8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48e52ad43459a" /><Relationship Type="http://schemas.openxmlformats.org/officeDocument/2006/relationships/image" Target="/ppt/media/image2.png" Id="R1964a35923044aca" /><Relationship Type="http://schemas.openxmlformats.org/officeDocument/2006/relationships/notesSlide" Target="/ppt/notesSlides/notesSlide2.xml" Id="Ra024f09213a642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81c22b2fb430f" /><Relationship Type="http://schemas.openxmlformats.org/officeDocument/2006/relationships/notesSlide" Target="/ppt/notesSlides/notesSlide3.xml" Id="Rdc3f52378b75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07f48fbdd4af7" /><Relationship Type="http://schemas.openxmlformats.org/officeDocument/2006/relationships/notesSlide" Target="/ppt/notesSlides/notesSlide4.xml" Id="Re9c4a22eff3d49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5742156ef414f" /><Relationship Type="http://schemas.openxmlformats.org/officeDocument/2006/relationships/notesSlide" Target="/ppt/notesSlides/notesSlide5.xml" Id="R7e8276cd48944c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1c3c7868348bc" /><Relationship Type="http://schemas.openxmlformats.org/officeDocument/2006/relationships/notesSlide" Target="/ppt/notesSlides/notesSlide6.xml" Id="R9cf67f3a95ca4d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4bdf21a454983" /><Relationship Type="http://schemas.openxmlformats.org/officeDocument/2006/relationships/notesSlide" Target="/ppt/notesSlides/notesSlide7.xml" Id="R0b1f0b28d5954d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d45b0a96d488a" /><Relationship Type="http://schemas.openxmlformats.org/officeDocument/2006/relationships/notesSlide" Target="/ppt/notesSlides/notesSlide8.xml" Id="Rc388d1018f5c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4fbbc5cd14ab8" /><Relationship Type="http://schemas.openxmlformats.org/officeDocument/2006/relationships/notesSlide" Target="/ppt/notesSlides/notesSlide9.xml" Id="R951c4b6a8cd543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828a12b6441c9" /><Relationship Type="http://schemas.openxmlformats.org/officeDocument/2006/relationships/notesSlide" Target="/ppt/notesSlides/notesSlide10.xml" Id="R969cfa3a8ecd47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9228344f84c78" /><Relationship Type="http://schemas.openxmlformats.org/officeDocument/2006/relationships/notesSlide" Target="/ppt/notesSlides/notesSlide11.xml" Id="Rbd4f239e572c46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1ca82dd5241c5" /><Relationship Type="http://schemas.openxmlformats.org/officeDocument/2006/relationships/notesSlide" Target="/ppt/notesSlides/notesSlide12.xml" Id="Raf97ccd85db942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0f263e7e14a11" /><Relationship Type="http://schemas.openxmlformats.org/officeDocument/2006/relationships/notesSlide" Target="/ppt/notesSlides/notesSlide13.xml" Id="R9c02037e3946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b89fbbbd54cb0" /><Relationship Type="http://schemas.openxmlformats.org/officeDocument/2006/relationships/notesSlide" Target="/ppt/notesSlides/notesSlide14.xml" Id="Rb9fd7ba9978b4a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5549d6d9e4ef7" /><Relationship Type="http://schemas.openxmlformats.org/officeDocument/2006/relationships/notesSlide" Target="/ppt/notesSlides/notesSlide15.xml" Id="R145875af383f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封面城市建筑背景">
            <a:extLst xmlns:a="http://schemas.openxmlformats.org/drawingml/2006/main">
              <a:ext uri="{FF2B5EF4-FFF2-40B4-BE49-F238E27FC236}">
                <a16:creationId xmlns:a16="http://schemas.microsoft.com/office/drawing/2014/main" id="{48CC4566-2CFA-42F9-8908-823903270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d9ce0242249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封面围合框">
            <a:extLst xmlns:a="http://schemas.openxmlformats.org/drawingml/2006/main">
              <a:ext uri="{FF2B5EF4-FFF2-40B4-BE49-F238E27FC236}">
                <a16:creationId xmlns:a16="http://schemas.microsoft.com/office/drawing/2014/main" id="{1A56C6BA-E971-47D5-90C9-155E8C9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876800"/>
          </a:xfrm>
          <a:prstGeom xmlns:a="http://schemas.openxmlformats.org/drawingml/2006/main" prst="roundRect">
            <a:avLst>
              <a:gd name="adj" fmla="val 273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封面内容类别">
            <a:extLst xmlns:a="http://schemas.openxmlformats.org/drawingml/2006/main">
              <a:ext uri="{FF2B5EF4-FFF2-40B4-BE49-F238E27FC236}">
                <a16:creationId xmlns:a16="http://schemas.microsoft.com/office/drawing/2014/main" id="{F50767CF-CE01-4ADD-85EA-C7F99DA5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改革目标与机制　七步流程与职责　七步操作要求</a:t>
            </a:r>
          </a:p>
        </p:txBody>
      </p:sp>
      <p:sp>
        <p:nvSpPr>
          <p:cNvPr id="3" name="封面平安橙辅助标题带">
            <a:extLst xmlns:a="http://schemas.openxmlformats.org/drawingml/2006/main">
              <a:ext uri="{FF2B5EF4-FFF2-40B4-BE49-F238E27FC236}">
                <a16:creationId xmlns:a16="http://schemas.microsoft.com/office/drawing/2014/main" id="{602C4A6C-4DF4-4202-AB0B-2B38AEC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6800850" cy="16192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4288">
            <a:solidFill>
              <a:srgbClr val="EA5A26"/>
            </a:solidFill>
            <a:prstDash val="solid"/>
          </a:ln>
        </p:spPr>
      </p:sp>
      <p:sp>
        <p:nvSpPr>
          <p:cNvPr id="4" name="主标题">
            <a:extLst xmlns:a="http://schemas.openxmlformats.org/drawingml/2006/main">
              <a:ext uri="{FF2B5EF4-FFF2-40B4-BE49-F238E27FC236}">
                <a16:creationId xmlns:a16="http://schemas.microsoft.com/office/drawing/2014/main" id="{361A08D1-8B8D-438C-AFC0-15EBEA4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3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内部审计整改革新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3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与操作详解</a:t>
            </a:r>
          </a:p>
        </p:txBody>
      </p:sp>
      <p:sp>
        <p:nvSpPr>
          <p:cNvPr id="5" name="副标题">
            <a:extLst xmlns:a="http://schemas.openxmlformats.org/drawingml/2006/main">
              <a:ext uri="{FF2B5EF4-FFF2-40B4-BE49-F238E27FC236}">
                <a16:creationId xmlns:a16="http://schemas.microsoft.com/office/drawing/2014/main" id="{A982A953-1524-47D5-80F6-FE052FDA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20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分级办理、协同履责、全流程闭环</a:t>
            </a:r>
          </a:p>
        </p:txBody>
      </p:sp>
      <p:sp>
        <p:nvSpPr>
          <p:cNvPr id="6" name="封面团队年份">
            <a:extLst xmlns:a="http://schemas.openxmlformats.org/drawingml/2006/main">
              <a:ext uri="{FF2B5EF4-FFF2-40B4-BE49-F238E27FC236}">
                <a16:creationId xmlns:a16="http://schemas.microsoft.com/office/drawing/2014/main" id="{E7C01689-BD26-45F5-9573-F0AF680C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  <a:p xmlns:a="http://schemas.openxmlformats.org/drawingml/2006/main"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2026年</a:t>
            </a:r>
          </a:p>
        </p:txBody>
      </p:sp>
      <p:sp>
        <p:nvSpPr>
          <p:cNvPr id="7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6B974602-D21B-48A2-AB55-6D22E871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36C15F8D-77B9-47EF-B305-2D418176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9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C14F1A78-D216-4054-AD8D-2F4685F5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10" name="页码">
            <a:extLst xmlns:a="http://schemas.openxmlformats.org/drawingml/2006/main">
              <a:ext uri="{FF2B5EF4-FFF2-40B4-BE49-F238E27FC236}">
                <a16:creationId xmlns:a16="http://schemas.microsoft.com/office/drawing/2014/main" id="{EE8E6B43-2E02-4958-99A3-20B2E38E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345554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目录侧边建筑线稿">
            <a:extLst xmlns:a="http://schemas.openxmlformats.org/drawingml/2006/main">
              <a:ext uri="{FF2B5EF4-FFF2-40B4-BE49-F238E27FC236}">
                <a16:creationId xmlns:a16="http://schemas.microsoft.com/office/drawing/2014/main" id="{00DA258F-8119-4536-AF38-77F8B352D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4a35923044aca"/>
          <a:stretch xmlns:a="http://schemas.openxmlformats.org/drawingml/2006/main"/>
        </p:blipFill>
        <p:spPr>
          <a:xfrm xmlns:a="http://schemas.openxmlformats.org/drawingml/2006/main">
            <a:off x="630106" y="4057650"/>
            <a:ext cx="1825888" cy="2057400"/>
          </a:xfrm>
          <a:prstGeom xmlns:a="http://schemas.openxmlformats.org/drawingml/2006/main" prst="rect">
            <a:avLst/>
          </a:prstGeom>
        </p:spPr>
      </p:pic>
      <p:sp>
        <p:nvSpPr>
          <p:cNvPr id="26" name="主标题">
            <a:extLst xmlns:a="http://schemas.openxmlformats.org/drawingml/2006/main">
              <a:ext uri="{FF2B5EF4-FFF2-40B4-BE49-F238E27FC236}">
                <a16:creationId xmlns:a16="http://schemas.microsoft.com/office/drawing/2014/main" id="{575FD59B-D595-443C-9F1A-AA9CFCE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目录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2DF581BF-2341-45C6-BC63-788ABA45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58763D2E-6F03-48DD-B890-83549101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先明确改革目标与职责，再逐项说明办理要求</a:t>
            </a:r>
          </a:p>
        </p:txBody>
      </p:sp>
      <p:sp>
        <p:nvSpPr>
          <p:cNvPr id="4" name="目录左栏">
            <a:extLst xmlns:a="http://schemas.openxmlformats.org/drawingml/2006/main">
              <a:ext uri="{FF2B5EF4-FFF2-40B4-BE49-F238E27FC236}">
                <a16:creationId xmlns:a16="http://schemas.microsoft.com/office/drawing/2014/main" id="{CAB83FF0-8A5D-457F-94AD-93271ED5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305050" cy="4838700"/>
          </a:xfrm>
          <a:prstGeom xmlns:a="http://schemas.openxmlformats.org/drawingml/2006/main" prst="roundRect">
            <a:avLst>
              <a:gd name="adj" fmla="val 57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目录左栏重点">
            <a:extLst xmlns:a="http://schemas.openxmlformats.org/drawingml/2006/main">
              <a:ext uri="{FF2B5EF4-FFF2-40B4-BE49-F238E27FC236}">
                <a16:creationId xmlns:a16="http://schemas.microsoft.com/office/drawing/2014/main" id="{73BABB8A-43F3-416D-8BB1-BDB4FA90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733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2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汇报目录</a:t>
            </a:r>
          </a:p>
        </p:txBody>
      </p:sp>
      <p:sp>
        <p:nvSpPr>
          <p:cNvPr id="6" name="目录阅读主线">
            <a:extLst xmlns:a="http://schemas.openxmlformats.org/drawingml/2006/main">
              <a:ext uri="{FF2B5EF4-FFF2-40B4-BE49-F238E27FC236}">
                <a16:creationId xmlns:a16="http://schemas.microsoft.com/office/drawing/2014/main" id="{C98C6C33-20B7-4C31-B4F4-3338009B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847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2025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明确目标</a:t>
            </a: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2025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梳理职责</a:t>
            </a: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2025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落实办理要求</a:t>
            </a:r>
          </a:p>
        </p:txBody>
      </p:sp>
      <p:sp>
        <p:nvSpPr>
          <p:cNvPr id="7" name="目录栏目 0边框">
            <a:extLst xmlns:a="http://schemas.openxmlformats.org/drawingml/2006/main">
              <a:ext uri="{FF2B5EF4-FFF2-40B4-BE49-F238E27FC236}">
                <a16:creationId xmlns:a16="http://schemas.microsoft.com/office/drawing/2014/main" id="{F94525AB-1AF6-482A-A7D3-63C8D2F6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09700"/>
            <a:ext cx="8801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8" name="目录栏目 0标题底色">
            <a:extLst xmlns:a="http://schemas.openxmlformats.org/drawingml/2006/main">
              <a:ext uri="{FF2B5EF4-FFF2-40B4-BE49-F238E27FC236}">
                <a16:creationId xmlns:a16="http://schemas.microsoft.com/office/drawing/2014/main" id="{C633A869-CFFD-4450-88E6-41DDF53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19225"/>
            <a:ext cx="8782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目录栏目 0标题">
            <a:extLst xmlns:a="http://schemas.openxmlformats.org/drawingml/2006/main">
              <a:ext uri="{FF2B5EF4-FFF2-40B4-BE49-F238E27FC236}">
                <a16:creationId xmlns:a16="http://schemas.microsoft.com/office/drawing/2014/main" id="{C19CCC79-4CE8-4043-B9A9-9960208B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76375"/>
            <a:ext cx="853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20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01　改革目标与机制</a:t>
            </a:r>
          </a:p>
        </p:txBody>
      </p:sp>
      <p:sp>
        <p:nvSpPr>
          <p:cNvPr id="10" name="目录说明 0">
            <a:extLst xmlns:a="http://schemas.openxmlformats.org/drawingml/2006/main">
              <a:ext uri="{FF2B5EF4-FFF2-40B4-BE49-F238E27FC236}">
                <a16:creationId xmlns:a16="http://schemas.microsoft.com/office/drawing/2014/main" id="{CC81BF7E-44E6-469C-B0B5-62113691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98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管理范围与八项机制</a:t>
            </a:r>
          </a:p>
        </p:txBody>
      </p:sp>
      <p:sp>
        <p:nvSpPr>
          <p:cNvPr id="11" name="目录页次 0">
            <a:extLst xmlns:a="http://schemas.openxmlformats.org/drawingml/2006/main">
              <a:ext uri="{FF2B5EF4-FFF2-40B4-BE49-F238E27FC236}">
                <a16:creationId xmlns:a16="http://schemas.microsoft.com/office/drawing/2014/main" id="{B4AEEB01-0245-40F6-B739-70020DB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098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03—04</a:t>
            </a:r>
          </a:p>
        </p:txBody>
      </p:sp>
      <p:sp>
        <p:nvSpPr>
          <p:cNvPr id="12" name="目录栏目 1边框">
            <a:extLst xmlns:a="http://schemas.openxmlformats.org/drawingml/2006/main">
              <a:ext uri="{FF2B5EF4-FFF2-40B4-BE49-F238E27FC236}">
                <a16:creationId xmlns:a16="http://schemas.microsoft.com/office/drawing/2014/main" id="{A58299EF-3A68-4BE2-A7AA-1AB8085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14675"/>
            <a:ext cx="8801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3" name="目录栏目 1标题底色">
            <a:extLst xmlns:a="http://schemas.openxmlformats.org/drawingml/2006/main">
              <a:ext uri="{FF2B5EF4-FFF2-40B4-BE49-F238E27FC236}">
                <a16:creationId xmlns:a16="http://schemas.microsoft.com/office/drawing/2014/main" id="{6F88119D-C522-4E48-905A-BCF6D90E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24200"/>
            <a:ext cx="8782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目录栏目 1标题">
            <a:extLst xmlns:a="http://schemas.openxmlformats.org/drawingml/2006/main">
              <a:ext uri="{FF2B5EF4-FFF2-40B4-BE49-F238E27FC236}">
                <a16:creationId xmlns:a16="http://schemas.microsoft.com/office/drawing/2014/main" id="{CB0823AB-74A6-4E2B-92A0-A2ECA1AF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81350"/>
            <a:ext cx="853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20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02　七步流程与职责</a:t>
            </a:r>
          </a:p>
        </p:txBody>
      </p:sp>
      <p:sp>
        <p:nvSpPr>
          <p:cNvPr id="15" name="目录说明 1">
            <a:extLst xmlns:a="http://schemas.openxmlformats.org/drawingml/2006/main">
              <a:ext uri="{FF2B5EF4-FFF2-40B4-BE49-F238E27FC236}">
                <a16:creationId xmlns:a16="http://schemas.microsoft.com/office/drawing/2014/main" id="{28F27274-7027-497A-A666-FD4A8C52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1477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七步闭环与三道防线协同</a:t>
            </a:r>
          </a:p>
        </p:txBody>
      </p:sp>
      <p:sp>
        <p:nvSpPr>
          <p:cNvPr id="16" name="目录页次 1">
            <a:extLst xmlns:a="http://schemas.openxmlformats.org/drawingml/2006/main">
              <a:ext uri="{FF2B5EF4-FFF2-40B4-BE49-F238E27FC236}">
                <a16:creationId xmlns:a16="http://schemas.microsoft.com/office/drawing/2014/main" id="{4EC53381-49A5-47EE-A45B-4270C865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14775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05—06</a:t>
            </a:r>
          </a:p>
        </p:txBody>
      </p:sp>
      <p:sp>
        <p:nvSpPr>
          <p:cNvPr id="17" name="目录栏目 2边框">
            <a:extLst xmlns:a="http://schemas.openxmlformats.org/drawingml/2006/main">
              <a:ext uri="{FF2B5EF4-FFF2-40B4-BE49-F238E27FC236}">
                <a16:creationId xmlns:a16="http://schemas.microsoft.com/office/drawing/2014/main" id="{CAEAF137-B2DE-49EF-A4CF-0296AD62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19650"/>
            <a:ext cx="8801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8" name="目录栏目 2标题底色">
            <a:extLst xmlns:a="http://schemas.openxmlformats.org/drawingml/2006/main">
              <a:ext uri="{FF2B5EF4-FFF2-40B4-BE49-F238E27FC236}">
                <a16:creationId xmlns:a16="http://schemas.microsoft.com/office/drawing/2014/main" id="{81DDBC76-334B-42F9-B501-978EFFBF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29175"/>
            <a:ext cx="8782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目录栏目 2标题">
            <a:extLst xmlns:a="http://schemas.openxmlformats.org/drawingml/2006/main">
              <a:ext uri="{FF2B5EF4-FFF2-40B4-BE49-F238E27FC236}">
                <a16:creationId xmlns:a16="http://schemas.microsoft.com/office/drawing/2014/main" id="{E80135FA-1BF1-4A7D-9FC7-0D3E9C6E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86325"/>
            <a:ext cx="853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20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03　七步操作要求</a:t>
            </a:r>
          </a:p>
        </p:txBody>
      </p:sp>
      <p:sp>
        <p:nvSpPr>
          <p:cNvPr id="20" name="目录说明 2">
            <a:extLst xmlns:a="http://schemas.openxmlformats.org/drawingml/2006/main">
              <a:ext uri="{FF2B5EF4-FFF2-40B4-BE49-F238E27FC236}">
                <a16:creationId xmlns:a16="http://schemas.microsoft.com/office/drawing/2014/main" id="{6520E495-0CC7-4738-A888-5DD3BCA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197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任务、分析、措施、追踪、验收、联动与考核</a:t>
            </a:r>
          </a:p>
        </p:txBody>
      </p:sp>
      <p:sp>
        <p:nvSpPr>
          <p:cNvPr id="21" name="目录页次 2">
            <a:extLst xmlns:a="http://schemas.openxmlformats.org/drawingml/2006/main">
              <a:ext uri="{FF2B5EF4-FFF2-40B4-BE49-F238E27FC236}">
                <a16:creationId xmlns:a16="http://schemas.microsoft.com/office/drawing/2014/main" id="{381AE329-45D6-4367-83CA-D57876E4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07—15</a:t>
            </a:r>
          </a:p>
        </p:txBody>
      </p:sp>
      <p:sp>
        <p:nvSpPr>
          <p:cNvPr id="22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7161CDBE-16EC-4B66-9950-20A675A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F6E87CA6-B17F-4C56-9CC5-200EE3EA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24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3C9DAC73-600E-462F-A823-57BD5787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25" name="页码">
            <a:extLst xmlns:a="http://schemas.openxmlformats.org/drawingml/2006/main">
              <a:ext uri="{FF2B5EF4-FFF2-40B4-BE49-F238E27FC236}">
                <a16:creationId xmlns:a16="http://schemas.microsoft.com/office/drawing/2014/main" id="{6DCF2E97-8B19-43A2-B06F-745ACA86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340139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主标题">
            <a:extLst xmlns:a="http://schemas.openxmlformats.org/drawingml/2006/main">
              <a:ext uri="{FF2B5EF4-FFF2-40B4-BE49-F238E27FC236}">
                <a16:creationId xmlns:a16="http://schemas.microsoft.com/office/drawing/2014/main" id="{AF37A4E8-2CF8-4192-884C-941901E9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改革目标与管理范围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507FABEC-869F-4BEE-9454-87762D0C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B7AFF7AE-B4B5-4A0A-8C52-C31785C0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两类事项统一纳入整改闭环，按风险实行差异化管理</a:t>
            </a:r>
          </a:p>
        </p:txBody>
      </p:sp>
      <p:sp>
        <p:nvSpPr>
          <p:cNvPr id="4" name="改革目标边框">
            <a:extLst xmlns:a="http://schemas.openxmlformats.org/drawingml/2006/main">
              <a:ext uri="{FF2B5EF4-FFF2-40B4-BE49-F238E27FC236}">
                <a16:creationId xmlns:a16="http://schemas.microsoft.com/office/drawing/2014/main" id="{138E2292-173C-4B45-8C53-D7533DC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543300" cy="4838700"/>
          </a:xfrm>
          <a:prstGeom xmlns:a="http://schemas.openxmlformats.org/drawingml/2006/main" prst="roundRect">
            <a:avLst>
              <a:gd name="adj" fmla="val 37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改革目标标题底色">
            <a:extLst xmlns:a="http://schemas.openxmlformats.org/drawingml/2006/main">
              <a:ext uri="{FF2B5EF4-FFF2-40B4-BE49-F238E27FC236}">
                <a16:creationId xmlns:a16="http://schemas.microsoft.com/office/drawing/2014/main" id="{CF8A7854-EFFD-4D0A-9677-7D04069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35242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改革目标标题">
            <a:extLst xmlns:a="http://schemas.openxmlformats.org/drawingml/2006/main">
              <a:ext uri="{FF2B5EF4-FFF2-40B4-BE49-F238E27FC236}">
                <a16:creationId xmlns:a16="http://schemas.microsoft.com/office/drawing/2014/main" id="{702E67FE-CFD1-42F8-840C-0326220A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3038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改革目标</a:t>
            </a:r>
          </a:p>
        </p:txBody>
      </p:sp>
      <p:sp>
        <p:nvSpPr>
          <p:cNvPr id="7" name="目标主题 0底色">
            <a:extLst xmlns:a="http://schemas.openxmlformats.org/drawingml/2006/main">
              <a:ext uri="{FF2B5EF4-FFF2-40B4-BE49-F238E27FC236}">
                <a16:creationId xmlns:a16="http://schemas.microsoft.com/office/drawing/2014/main" id="{DB1F5044-FBC4-4EFF-ACCC-69110C70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200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目标主题 0">
            <a:extLst xmlns:a="http://schemas.openxmlformats.org/drawingml/2006/main">
              <a:ext uri="{FF2B5EF4-FFF2-40B4-BE49-F238E27FC236}">
                <a16:creationId xmlns:a16="http://schemas.microsoft.com/office/drawing/2014/main" id="{3842C3EC-D2E9-49CC-A893-D383C9E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深化整改</a:t>
            </a:r>
          </a:p>
        </p:txBody>
      </p:sp>
      <p:sp>
        <p:nvSpPr>
          <p:cNvPr id="9" name="目标说明 0">
            <a:extLst xmlns:a="http://schemas.openxmlformats.org/drawingml/2006/main">
              <a:ext uri="{FF2B5EF4-FFF2-40B4-BE49-F238E27FC236}">
                <a16:creationId xmlns:a16="http://schemas.microsoft.com/office/drawing/2014/main" id="{2D866960-752F-490D-BD20-124E7A8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320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将整改作为审计闭环的核心环节</a:t>
            </a:r>
          </a:p>
        </p:txBody>
      </p:sp>
      <p:sp>
        <p:nvSpPr>
          <p:cNvPr id="10" name="目标主题 1底色">
            <a:extLst xmlns:a="http://schemas.openxmlformats.org/drawingml/2006/main">
              <a:ext uri="{FF2B5EF4-FFF2-40B4-BE49-F238E27FC236}">
                <a16:creationId xmlns:a16="http://schemas.microsoft.com/office/drawing/2014/main" id="{788B2DE8-D81A-42AC-9187-204E64B7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3200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目标主题 1">
            <a:extLst xmlns:a="http://schemas.openxmlformats.org/drawingml/2006/main">
              <a:ext uri="{FF2B5EF4-FFF2-40B4-BE49-F238E27FC236}">
                <a16:creationId xmlns:a16="http://schemas.microsoft.com/office/drawing/2014/main" id="{183F4771-0ED1-46C7-BDE5-C53E22D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全链路落实</a:t>
            </a:r>
          </a:p>
        </p:txBody>
      </p:sp>
      <p:sp>
        <p:nvSpPr>
          <p:cNvPr id="12" name="目标说明 1">
            <a:extLst xmlns:a="http://schemas.openxmlformats.org/drawingml/2006/main">
              <a:ext uri="{FF2B5EF4-FFF2-40B4-BE49-F238E27FC236}">
                <a16:creationId xmlns:a16="http://schemas.microsoft.com/office/drawing/2014/main" id="{660AAE40-737F-438E-971E-93B23CC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20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贯通问题发现、整改治理、</a:t>
            </a:r>
            <a:b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</a:b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考核问责与验收闭环</a:t>
            </a:r>
          </a:p>
        </p:txBody>
      </p:sp>
      <p:sp>
        <p:nvSpPr>
          <p:cNvPr id="13" name="目标主题 2底色">
            <a:extLst xmlns:a="http://schemas.openxmlformats.org/drawingml/2006/main">
              <a:ext uri="{FF2B5EF4-FFF2-40B4-BE49-F238E27FC236}">
                <a16:creationId xmlns:a16="http://schemas.microsoft.com/office/drawing/2014/main" id="{9327D4D9-9A0F-4A5B-91BA-9432FFC8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3200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目标主题 2">
            <a:extLst xmlns:a="http://schemas.openxmlformats.org/drawingml/2006/main">
              <a:ext uri="{FF2B5EF4-FFF2-40B4-BE49-F238E27FC236}">
                <a16:creationId xmlns:a16="http://schemas.microsoft.com/office/drawing/2014/main" id="{7E05319D-73C0-41B4-8753-0E6EBAC6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重构流程</a:t>
            </a:r>
          </a:p>
        </p:txBody>
      </p:sp>
      <p:sp>
        <p:nvSpPr>
          <p:cNvPr id="15" name="目标说明 2">
            <a:extLst xmlns:a="http://schemas.openxmlformats.org/drawingml/2006/main">
              <a:ext uri="{FF2B5EF4-FFF2-40B4-BE49-F238E27FC236}">
                <a16:creationId xmlns:a16="http://schemas.microsoft.com/office/drawing/2014/main" id="{E589397C-3082-40AC-915E-E6F4EEE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320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形成标准化、差异化、可追踪的作业要求</a:t>
            </a:r>
          </a:p>
        </p:txBody>
      </p:sp>
      <p:sp>
        <p:nvSpPr>
          <p:cNvPr id="16" name="改革着力点底色">
            <a:extLst xmlns:a="http://schemas.openxmlformats.org/drawingml/2006/main">
              <a:ext uri="{FF2B5EF4-FFF2-40B4-BE49-F238E27FC236}">
                <a16:creationId xmlns:a16="http://schemas.microsoft.com/office/drawing/2014/main" id="{094ED73A-0394-4A97-9849-6698A02C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320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改革着力点">
            <a:extLst xmlns:a="http://schemas.openxmlformats.org/drawingml/2006/main">
              <a:ext uri="{FF2B5EF4-FFF2-40B4-BE49-F238E27FC236}">
                <a16:creationId xmlns:a16="http://schemas.microsoft.com/office/drawing/2014/main" id="{AA3CBFBE-D8B3-4460-BB2C-20E2C1D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改革着力点：重查轻改、落地不实</a:t>
            </a:r>
          </a:p>
        </p:txBody>
      </p:sp>
      <p:sp>
        <p:nvSpPr>
          <p:cNvPr id="18" name="管理范围边框">
            <a:extLst xmlns:a="http://schemas.openxmlformats.org/drawingml/2006/main">
              <a:ext uri="{FF2B5EF4-FFF2-40B4-BE49-F238E27FC236}">
                <a16:creationId xmlns:a16="http://schemas.microsoft.com/office/drawing/2014/main" id="{D25CB2B5-5BC7-4D7B-8A0C-6D49C411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09700"/>
            <a:ext cx="7581900" cy="4838700"/>
          </a:xfrm>
          <a:prstGeom xmlns:a="http://schemas.openxmlformats.org/drawingml/2006/main" prst="roundRect">
            <a:avLst>
              <a:gd name="adj" fmla="val 2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9" name="管理范围标题底色">
            <a:extLst xmlns:a="http://schemas.openxmlformats.org/drawingml/2006/main">
              <a:ext uri="{FF2B5EF4-FFF2-40B4-BE49-F238E27FC236}">
                <a16:creationId xmlns:a16="http://schemas.microsoft.com/office/drawing/2014/main" id="{4E671E1C-71B9-4704-918D-338FB81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19225"/>
            <a:ext cx="75628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管理范围标题">
            <a:extLst xmlns:a="http://schemas.openxmlformats.org/drawingml/2006/main">
              <a:ext uri="{FF2B5EF4-FFF2-40B4-BE49-F238E27FC236}">
                <a16:creationId xmlns:a16="http://schemas.microsoft.com/office/drawing/2014/main" id="{D00583D7-6271-4868-BE4E-92BBB6C7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43038"/>
            <a:ext cx="731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两类事项统一纳入整改闭环</a:t>
            </a:r>
          </a:p>
        </p:txBody>
      </p:sp>
      <p:sp>
        <p:nvSpPr>
          <p:cNvPr id="21" name="范围主题 0底色">
            <a:extLst xmlns:a="http://schemas.openxmlformats.org/drawingml/2006/main">
              <a:ext uri="{FF2B5EF4-FFF2-40B4-BE49-F238E27FC236}">
                <a16:creationId xmlns:a16="http://schemas.microsoft.com/office/drawing/2014/main" id="{22378DB7-C3FD-4777-92AB-10CF5269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385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范围主题 0">
            <a:extLst xmlns:a="http://schemas.openxmlformats.org/drawingml/2006/main">
              <a:ext uri="{FF2B5EF4-FFF2-40B4-BE49-F238E27FC236}">
                <a16:creationId xmlns:a16="http://schemas.microsoft.com/office/drawing/2014/main" id="{37FAA53C-D5C9-44D6-9F05-678E1A96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稽核发现问题</a:t>
            </a:r>
          </a:p>
        </p:txBody>
      </p:sp>
      <p:sp>
        <p:nvSpPr>
          <p:cNvPr id="23" name="范围说明 0">
            <a:extLst xmlns:a="http://schemas.openxmlformats.org/drawingml/2006/main">
              <a:ext uri="{FF2B5EF4-FFF2-40B4-BE49-F238E27FC236}">
                <a16:creationId xmlns:a16="http://schemas.microsoft.com/office/drawing/2014/main" id="{95063C71-A996-47F1-95CD-EA5D1C2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248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年度专项稽核、常规稽核项目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发现的所有问题</a:t>
            </a:r>
          </a:p>
        </p:txBody>
      </p:sp>
      <p:sp>
        <p:nvSpPr>
          <p:cNvPr id="24" name="范围动作分隔 0">
            <a:extLst xmlns:a="http://schemas.openxmlformats.org/drawingml/2006/main">
              <a:ext uri="{FF2B5EF4-FFF2-40B4-BE49-F238E27FC236}">
                <a16:creationId xmlns:a16="http://schemas.microsoft.com/office/drawing/2014/main" id="{E5285611-0DCD-41EF-B289-9B20CFE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342900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5" name="范围办理对象 0">
            <a:extLst xmlns:a="http://schemas.openxmlformats.org/drawingml/2006/main">
              <a:ext uri="{FF2B5EF4-FFF2-40B4-BE49-F238E27FC236}">
                <a16:creationId xmlns:a16="http://schemas.microsoft.com/office/drawing/2014/main" id="{A1EC0F39-48E5-4DC6-8EC3-7CB58F21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32480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发起：稽核项目组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接收：被审计单位责任人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时点：处罚小组结束后立即发送</a:t>
            </a:r>
          </a:p>
        </p:txBody>
      </p:sp>
      <p:sp>
        <p:nvSpPr>
          <p:cNvPr id="26" name="范围主题 1底色">
            <a:extLst xmlns:a="http://schemas.openxmlformats.org/drawingml/2006/main">
              <a:ext uri="{FF2B5EF4-FFF2-40B4-BE49-F238E27FC236}">
                <a16:creationId xmlns:a16="http://schemas.microsoft.com/office/drawing/2014/main" id="{45456B60-751E-4542-9F8D-6D13A091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05000"/>
            <a:ext cx="34385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范围主题 1">
            <a:extLst xmlns:a="http://schemas.openxmlformats.org/drawingml/2006/main">
              <a:ext uri="{FF2B5EF4-FFF2-40B4-BE49-F238E27FC236}">
                <a16:creationId xmlns:a16="http://schemas.microsoft.com/office/drawing/2014/main" id="{5D92EAF1-F144-4F52-88FB-34D85E52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5262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三函涉及事项</a:t>
            </a:r>
          </a:p>
        </p:txBody>
      </p:sp>
      <p:sp>
        <p:nvSpPr>
          <p:cNvPr id="28" name="范围说明 1">
            <a:extLst xmlns:a="http://schemas.openxmlformats.org/drawingml/2006/main">
              <a:ext uri="{FF2B5EF4-FFF2-40B4-BE49-F238E27FC236}">
                <a16:creationId xmlns:a16="http://schemas.microsoft.com/office/drawing/2014/main" id="{C71B8128-2910-478A-973D-07F68CF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19350"/>
            <a:ext cx="3248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指令函、警示函、知询函所涉及的</a:t>
            </a:r>
            <a:b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</a:b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整改事项</a:t>
            </a:r>
          </a:p>
        </p:txBody>
      </p:sp>
      <p:sp>
        <p:nvSpPr>
          <p:cNvPr id="29" name="范围动作分隔 1">
            <a:extLst xmlns:a="http://schemas.openxmlformats.org/drawingml/2006/main">
              <a:ext uri="{FF2B5EF4-FFF2-40B4-BE49-F238E27FC236}">
                <a16:creationId xmlns:a16="http://schemas.microsoft.com/office/drawing/2014/main" id="{C2838EB6-4D88-49F4-BFE6-EEEF95B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86725" y="3429000"/>
            <a:ext cx="3248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0" name="范围办理对象 1">
            <a:extLst xmlns:a="http://schemas.openxmlformats.org/drawingml/2006/main">
              <a:ext uri="{FF2B5EF4-FFF2-40B4-BE49-F238E27FC236}">
                <a16:creationId xmlns:a16="http://schemas.microsoft.com/office/drawing/2014/main" id="{3B1FA859-17A4-4219-A1CB-6F35BA2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57600"/>
            <a:ext cx="32480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发起：三函提交人（主审）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接收：责任部门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指令函／警示函：评审会通过后发送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135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知询函：稽核部公邮发出时同步发送</a:t>
            </a:r>
          </a:p>
        </p:txBody>
      </p:sp>
      <p:sp>
        <p:nvSpPr>
          <p:cNvPr id="31" name="统一管理要点底色">
            <a:extLst xmlns:a="http://schemas.openxmlformats.org/drawingml/2006/main">
              <a:ext uri="{FF2B5EF4-FFF2-40B4-BE49-F238E27FC236}">
                <a16:creationId xmlns:a16="http://schemas.microsoft.com/office/drawing/2014/main" id="{363847E7-76E7-4EDF-9B56-AE8CC45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86375"/>
            <a:ext cx="7239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统一管理要点">
            <a:extLst xmlns:a="http://schemas.openxmlformats.org/drawingml/2006/main">
              <a:ext uri="{FF2B5EF4-FFF2-40B4-BE49-F238E27FC236}">
                <a16:creationId xmlns:a16="http://schemas.microsoft.com/office/drawing/2014/main" id="{9D905B91-D7BB-4BD0-9C26-4AD009C2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43525"/>
            <a:ext cx="701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按事项来源、风险等级和环节适用范围匹配办理要求</a:t>
            </a:r>
          </a:p>
        </p:txBody>
      </p:sp>
      <p:sp>
        <p:nvSpPr>
          <p:cNvPr id="33" name="管理覆盖范围">
            <a:extLst xmlns:a="http://schemas.openxmlformats.org/drawingml/2006/main">
              <a:ext uri="{FF2B5EF4-FFF2-40B4-BE49-F238E27FC236}">
                <a16:creationId xmlns:a16="http://schemas.microsoft.com/office/drawing/2014/main" id="{0C58DDB9-6943-4C00-AF49-19968DDD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197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统一衔接任务下发、审批、追踪与验收。</a:t>
            </a:r>
          </a:p>
        </p:txBody>
      </p:sp>
      <p:sp>
        <p:nvSpPr>
          <p:cNvPr id="34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36F0E2C5-F648-440E-BBEE-4BF9FD3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C90F29E5-9DBA-4591-83F0-76EA671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36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64B7F995-3A39-4B36-AAF1-71E0062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37" name="页码">
            <a:extLst xmlns:a="http://schemas.openxmlformats.org/drawingml/2006/main">
              <a:ext uri="{FF2B5EF4-FFF2-40B4-BE49-F238E27FC236}">
                <a16:creationId xmlns:a16="http://schemas.microsoft.com/office/drawing/2014/main" id="{7CC3A1BF-DCA5-4783-8A14-A42353FA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051153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主标题">
            <a:extLst xmlns:a="http://schemas.openxmlformats.org/drawingml/2006/main">
              <a:ext uri="{FF2B5EF4-FFF2-40B4-BE49-F238E27FC236}">
                <a16:creationId xmlns:a16="http://schemas.microsoft.com/office/drawing/2014/main" id="{7C1523E5-153F-457A-A5C7-4DAFDD24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八项机制贯穿整改</a:t>
            </a:r>
            <a:r>
              <a:rPr sz="2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全过程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4DA3C0BF-D7F0-41BD-8227-FE3A98F7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B42DA260-3FA9-409A-9C74-2CCE8F34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流程独立、分级管理、全程协同，落实治理与考核</a:t>
            </a:r>
          </a:p>
        </p:txBody>
      </p:sp>
      <p:graphicFrame>
        <p:nvGraphicFramePr>
          <p:cNvPr id="4" name="八项机制白底矩阵">
            <a:extLst xmlns:a="http://schemas.openxmlformats.org/drawingml/2006/main">
              <a:ext uri="{FF2B5EF4-FFF2-40B4-BE49-F238E27FC236}">
                <a16:creationId xmlns:a16="http://schemas.microsoft.com/office/drawing/2014/main" id="{B34D2909-287C-4714-AF68-72FE612B052D}"/>
              </a:ext>
            </a:extLst>
          </p:cNvPr>
          <p:cNvGraphicFramePr/>
          <p:nvPr/>
        </p:nvGraphicFramePr>
        <p:xfrm>
          <a:off xmlns:a="http://schemas.openxmlformats.org/drawingml/2006/main" x="400050" y="1371600"/>
          <a:ext xmlns:a="http://schemas.openxmlformats.org/drawingml/2006/main" cx="11391900" cy="49530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981200"/>
                <a:gridCol w="5905500"/>
                <a:gridCol w="3505200"/>
              </a:tblGrid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管理机制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办理要求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落地环节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1. 流程独立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整改流程独立于稽核检查流程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任务下发至考核落地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2. 合规融入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全程参与审核、督导与考核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审核、督导与考核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3. 整改提级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高风险事项责任人升级、审批提级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风险分级与差异化审批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4. 追踪提示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月度自动提醒、逾期预警通报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过程追踪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5. 三层验收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业务自验、稽核验收、问责质检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验收质检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6. 业审联动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新增</a:t>
                      </a: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长效治理模块，持续回溯问题与措施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业审联动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7. 刚性考核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新增</a:t>
                      </a: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合规考核</a:t>
                      </a: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加减分</a:t>
                      </a: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项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考核落地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8. 三函线上化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已于8月实现线上化管理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三函任务线上办理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ACA66A61-2EA0-4D97-9253-EA9F5D8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6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E4434258-9687-4071-803D-CB047E53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4EA37754-556E-441E-80D0-F2A3812F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04 / 15</a:t>
            </a:r>
          </a:p>
        </p:txBody>
      </p:sp>
      <p:sp>
        <p:nvSpPr>
          <p:cNvPr id="9" name="八项机制白底矩阵圆角遮罩TL">
            <a:extLst xmlns:a="http://schemas.openxmlformats.org/drawingml/2006/main">
              <a:ext uri="{FF2B5EF4-FFF2-40B4-BE49-F238E27FC236}">
                <a16:creationId xmlns:a16="http://schemas.microsoft.com/office/drawing/2014/main" id="{DFCD9F8F-7D2E-484D-A9DF-37250CDE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1362075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0"/>
                </a:moveTo>
                <a:lnTo>
                  <a:pt x="142875" y="0"/>
                </a:lnTo>
                <a:lnTo>
                  <a:pt x="142875" y="9525"/>
                </a:lnTo>
                <a:cubicBezTo>
                  <a:pt x="69228" y="9525"/>
                  <a:pt x="9525" y="69228"/>
                  <a:pt x="9525" y="142875"/>
                </a:cubicBez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八项机制白底矩阵圆角遮罩TR">
            <a:extLst xmlns:a="http://schemas.openxmlformats.org/drawingml/2006/main">
              <a:ext uri="{FF2B5EF4-FFF2-40B4-BE49-F238E27FC236}">
                <a16:creationId xmlns:a16="http://schemas.microsoft.com/office/drawing/2014/main" id="{37F87581-E3BD-4B7D-B4A0-4EBA39ED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58600" y="1362075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0"/>
                </a:moveTo>
                <a:lnTo>
                  <a:pt x="142875" y="0"/>
                </a:lnTo>
                <a:lnTo>
                  <a:pt x="142875" y="9525"/>
                </a:lnTo>
                <a:cubicBezTo>
                  <a:pt x="69228" y="9525"/>
                  <a:pt x="9525" y="69228"/>
                  <a:pt x="9525" y="142875"/>
                </a:cubicBez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八项机制白底矩阵圆角遮罩BL">
            <a:extLst xmlns:a="http://schemas.openxmlformats.org/drawingml/2006/main">
              <a:ext uri="{FF2B5EF4-FFF2-40B4-BE49-F238E27FC236}">
                <a16:creationId xmlns:a16="http://schemas.microsoft.com/office/drawing/2014/main" id="{0E05B105-A4A0-4CD7-B3EF-0CDAD24B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619125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0"/>
                </a:moveTo>
                <a:lnTo>
                  <a:pt x="142875" y="0"/>
                </a:lnTo>
                <a:lnTo>
                  <a:pt x="142875" y="9525"/>
                </a:lnTo>
                <a:cubicBezTo>
                  <a:pt x="69228" y="9525"/>
                  <a:pt x="9525" y="69228"/>
                  <a:pt x="9525" y="142875"/>
                </a:cubicBez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八项机制白底矩阵圆角遮罩BR">
            <a:extLst xmlns:a="http://schemas.openxmlformats.org/drawingml/2006/main">
              <a:ext uri="{FF2B5EF4-FFF2-40B4-BE49-F238E27FC236}">
                <a16:creationId xmlns:a16="http://schemas.microsoft.com/office/drawing/2014/main" id="{9635F7D8-A950-4EDB-A2ED-3A74FFA7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58600" y="619125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0"/>
                </a:moveTo>
                <a:lnTo>
                  <a:pt x="142875" y="0"/>
                </a:lnTo>
                <a:lnTo>
                  <a:pt x="142875" y="9525"/>
                </a:lnTo>
                <a:cubicBezTo>
                  <a:pt x="69228" y="9525"/>
                  <a:pt x="9525" y="69228"/>
                  <a:pt x="9525" y="142875"/>
                </a:cubicBez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八项机制白底矩阵圆角外线">
            <a:extLst xmlns:a="http://schemas.openxmlformats.org/drawingml/2006/main">
              <a:ext uri="{FF2B5EF4-FFF2-40B4-BE49-F238E27FC236}">
                <a16:creationId xmlns:a16="http://schemas.microsoft.com/office/drawing/2014/main" id="{794C5412-AFD1-4F6F-A617-53102B0B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1391900" cy="4953000"/>
          </a:xfrm>
          <a:prstGeom xmlns:a="http://schemas.openxmlformats.org/drawingml/2006/main" prst="roundRect">
            <a:avLst>
              <a:gd name="adj" fmla="val 2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7633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主标题">
            <a:extLst xmlns:a="http://schemas.openxmlformats.org/drawingml/2006/main">
              <a:ext uri="{FF2B5EF4-FFF2-40B4-BE49-F238E27FC236}">
                <a16:creationId xmlns:a16="http://schemas.microsoft.com/office/drawing/2014/main" id="{0038B0F9-B399-4A81-BA0F-AAE572C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整改闭环流程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F21F11E7-2882-46A8-827A-AC164DB4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69CE9166-849D-411A-B29D-337DF06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分级管控＋三道防线协同＋溯源整改＋刚性考核</a:t>
            </a:r>
          </a:p>
        </p:txBody>
      </p:sp>
      <p:sp>
        <p:nvSpPr>
          <p:cNvPr id="4" name="七步节点 0">
            <a:extLst xmlns:a="http://schemas.openxmlformats.org/drawingml/2006/main">
              <a:ext uri="{FF2B5EF4-FFF2-40B4-BE49-F238E27FC236}">
                <a16:creationId xmlns:a16="http://schemas.microsoft.com/office/drawing/2014/main" id="{AAC1DA79-1C56-4E1E-80B2-BAF329D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5" name="七步编号 0">
            <a:extLst xmlns:a="http://schemas.openxmlformats.org/drawingml/2006/main">
              <a:ext uri="{FF2B5EF4-FFF2-40B4-BE49-F238E27FC236}">
                <a16:creationId xmlns:a16="http://schemas.microsoft.com/office/drawing/2014/main" id="{811E4E5B-A895-4325-A68D-D30A316C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1</a:t>
            </a:r>
          </a:p>
        </p:txBody>
      </p:sp>
      <p:sp>
        <p:nvSpPr>
          <p:cNvPr id="6" name="七步名称 0">
            <a:extLst xmlns:a="http://schemas.openxmlformats.org/drawingml/2006/main">
              <a:ext uri="{FF2B5EF4-FFF2-40B4-BE49-F238E27FC236}">
                <a16:creationId xmlns:a16="http://schemas.microsoft.com/office/drawing/2014/main" id="{013AED5B-A008-4D4F-8EFE-603FF65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任务下发</a:t>
            </a:r>
          </a:p>
        </p:txBody>
      </p:sp>
      <p:cxnSp>
        <p:nvCxnSpPr>
          <p:cNvPr id="7" name="七步连接 0">
            <a:extLst xmlns:a="http://schemas.openxmlformats.org/drawingml/2006/main">
              <a:ext uri="{FF2B5EF4-FFF2-40B4-BE49-F238E27FC236}">
                <a16:creationId xmlns:a16="http://schemas.microsoft.com/office/drawing/2014/main" id="{D4BF2C6B-76DF-4EFA-B5F4-16BD3A754E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33575" y="1790700"/>
            <a:ext cx="10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8" name="七步节点 1">
            <a:extLst xmlns:a="http://schemas.openxmlformats.org/drawingml/2006/main">
              <a:ext uri="{FF2B5EF4-FFF2-40B4-BE49-F238E27FC236}">
                <a16:creationId xmlns:a16="http://schemas.microsoft.com/office/drawing/2014/main" id="{58A6300A-AEAF-4318-AE8E-6D25006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9" name="七步编号 1">
            <a:extLst xmlns:a="http://schemas.openxmlformats.org/drawingml/2006/main">
              <a:ext uri="{FF2B5EF4-FFF2-40B4-BE49-F238E27FC236}">
                <a16:creationId xmlns:a16="http://schemas.microsoft.com/office/drawing/2014/main" id="{4EC7E92D-2E77-483E-A732-5C5CD626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2</a:t>
            </a:r>
          </a:p>
        </p:txBody>
      </p:sp>
      <p:sp>
        <p:nvSpPr>
          <p:cNvPr id="10" name="七步名称 1">
            <a:extLst xmlns:a="http://schemas.openxmlformats.org/drawingml/2006/main">
              <a:ext uri="{FF2B5EF4-FFF2-40B4-BE49-F238E27FC236}">
                <a16:creationId xmlns:a16="http://schemas.microsoft.com/office/drawing/2014/main" id="{9EF3013F-D2A9-4D30-8EFB-25D2D879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成因分析</a:t>
            </a:r>
          </a:p>
        </p:txBody>
      </p:sp>
      <p:cxnSp>
        <p:nvCxnSpPr>
          <p:cNvPr id="11" name="七步连接 1">
            <a:extLst xmlns:a="http://schemas.openxmlformats.org/drawingml/2006/main">
              <a:ext uri="{FF2B5EF4-FFF2-40B4-BE49-F238E27FC236}">
                <a16:creationId xmlns:a16="http://schemas.microsoft.com/office/drawing/2014/main" id="{D0641CE7-3DAE-43BD-B351-1971F89DB6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78225" y="1790700"/>
            <a:ext cx="10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2" name="七步节点 2">
            <a:extLst xmlns:a="http://schemas.openxmlformats.org/drawingml/2006/main">
              <a:ext uri="{FF2B5EF4-FFF2-40B4-BE49-F238E27FC236}">
                <a16:creationId xmlns:a16="http://schemas.microsoft.com/office/drawing/2014/main" id="{046D8EF9-5898-430B-B670-75C3676D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5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13" name="七步编号 2">
            <a:extLst xmlns:a="http://schemas.openxmlformats.org/drawingml/2006/main">
              <a:ext uri="{FF2B5EF4-FFF2-40B4-BE49-F238E27FC236}">
                <a16:creationId xmlns:a16="http://schemas.microsoft.com/office/drawing/2014/main" id="{D02D7C22-D85A-4456-80DD-830FA4D4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55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3</a:t>
            </a:r>
          </a:p>
        </p:txBody>
      </p:sp>
      <p:sp>
        <p:nvSpPr>
          <p:cNvPr id="14" name="七步名称 2">
            <a:extLst xmlns:a="http://schemas.openxmlformats.org/drawingml/2006/main">
              <a:ext uri="{FF2B5EF4-FFF2-40B4-BE49-F238E27FC236}">
                <a16:creationId xmlns:a16="http://schemas.microsoft.com/office/drawing/2014/main" id="{E3C7ACFD-6C8F-4FAA-957A-2194781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55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措施制定</a:t>
            </a:r>
          </a:p>
        </p:txBody>
      </p:sp>
      <p:cxnSp>
        <p:nvCxnSpPr>
          <p:cNvPr id="15" name="七步连接 2">
            <a:extLst xmlns:a="http://schemas.openxmlformats.org/drawingml/2006/main">
              <a:ext uri="{FF2B5EF4-FFF2-40B4-BE49-F238E27FC236}">
                <a16:creationId xmlns:a16="http://schemas.microsoft.com/office/drawing/2014/main" id="{7B967364-11EC-41B5-BAFD-AB9A4B5948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22875" y="1790700"/>
            <a:ext cx="10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6" name="七步节点 3">
            <a:extLst xmlns:a="http://schemas.openxmlformats.org/drawingml/2006/main">
              <a:ext uri="{FF2B5EF4-FFF2-40B4-BE49-F238E27FC236}">
                <a16:creationId xmlns:a16="http://schemas.microsoft.com/office/drawing/2014/main" id="{2AC48FF9-7249-4C87-B9F4-B397533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17" name="七步编号 3">
            <a:extLst xmlns:a="http://schemas.openxmlformats.org/drawingml/2006/main">
              <a:ext uri="{FF2B5EF4-FFF2-40B4-BE49-F238E27FC236}">
                <a16:creationId xmlns:a16="http://schemas.microsoft.com/office/drawing/2014/main" id="{893900A9-9662-4305-9102-2483A8AB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4</a:t>
            </a:r>
          </a:p>
        </p:txBody>
      </p:sp>
      <p:sp>
        <p:nvSpPr>
          <p:cNvPr id="18" name="七步名称 3">
            <a:extLst xmlns:a="http://schemas.openxmlformats.org/drawingml/2006/main">
              <a:ext uri="{FF2B5EF4-FFF2-40B4-BE49-F238E27FC236}">
                <a16:creationId xmlns:a16="http://schemas.microsoft.com/office/drawing/2014/main" id="{6CC6FEB6-4282-4281-8A80-D9A7A4A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过程追踪</a:t>
            </a:r>
          </a:p>
        </p:txBody>
      </p:sp>
      <p:cxnSp>
        <p:nvCxnSpPr>
          <p:cNvPr id="19" name="七步连接 3">
            <a:extLst xmlns:a="http://schemas.openxmlformats.org/drawingml/2006/main">
              <a:ext uri="{FF2B5EF4-FFF2-40B4-BE49-F238E27FC236}">
                <a16:creationId xmlns:a16="http://schemas.microsoft.com/office/drawing/2014/main" id="{A53DF16C-8C9E-43D6-816D-7655A90DC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67525" y="1790700"/>
            <a:ext cx="10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0" name="七步节点 4">
            <a:extLst xmlns:a="http://schemas.openxmlformats.org/drawingml/2006/main">
              <a:ext uri="{FF2B5EF4-FFF2-40B4-BE49-F238E27FC236}">
                <a16:creationId xmlns:a16="http://schemas.microsoft.com/office/drawing/2014/main" id="{28A82B4E-1E24-4B4C-8F10-C70A4805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65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21" name="七步编号 4">
            <a:extLst xmlns:a="http://schemas.openxmlformats.org/drawingml/2006/main">
              <a:ext uri="{FF2B5EF4-FFF2-40B4-BE49-F238E27FC236}">
                <a16:creationId xmlns:a16="http://schemas.microsoft.com/office/drawing/2014/main" id="{0A59CE6C-EB2E-492E-B219-76F2F0E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5</a:t>
            </a:r>
          </a:p>
        </p:txBody>
      </p:sp>
      <p:sp>
        <p:nvSpPr>
          <p:cNvPr id="22" name="七步名称 4">
            <a:extLst xmlns:a="http://schemas.openxmlformats.org/drawingml/2006/main">
              <a:ext uri="{FF2B5EF4-FFF2-40B4-BE49-F238E27FC236}">
                <a16:creationId xmlns:a16="http://schemas.microsoft.com/office/drawing/2014/main" id="{6A817AD3-E7B3-4CCD-AC82-E664849B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验收质检</a:t>
            </a:r>
          </a:p>
        </p:txBody>
      </p:sp>
      <p:cxnSp>
        <p:nvCxnSpPr>
          <p:cNvPr id="23" name="七步连接 4">
            <a:extLst xmlns:a="http://schemas.openxmlformats.org/drawingml/2006/main">
              <a:ext uri="{FF2B5EF4-FFF2-40B4-BE49-F238E27FC236}">
                <a16:creationId xmlns:a16="http://schemas.microsoft.com/office/drawing/2014/main" id="{583AD316-FA41-49EC-AB42-B9E3E8ABCC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12175" y="1790700"/>
            <a:ext cx="10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4" name="七步节点 5">
            <a:extLst xmlns:a="http://schemas.openxmlformats.org/drawingml/2006/main">
              <a:ext uri="{FF2B5EF4-FFF2-40B4-BE49-F238E27FC236}">
                <a16:creationId xmlns:a16="http://schemas.microsoft.com/office/drawing/2014/main" id="{C14E9FEB-FE39-4988-9025-2E6137A4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25" name="七步编号 5">
            <a:extLst xmlns:a="http://schemas.openxmlformats.org/drawingml/2006/main">
              <a:ext uri="{FF2B5EF4-FFF2-40B4-BE49-F238E27FC236}">
                <a16:creationId xmlns:a16="http://schemas.microsoft.com/office/drawing/2014/main" id="{C44F70B5-9558-4B65-BADD-2EDDD111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6</a:t>
            </a:r>
          </a:p>
        </p:txBody>
      </p:sp>
      <p:sp>
        <p:nvSpPr>
          <p:cNvPr id="26" name="七步名称 5">
            <a:extLst xmlns:a="http://schemas.openxmlformats.org/drawingml/2006/main">
              <a:ext uri="{FF2B5EF4-FFF2-40B4-BE49-F238E27FC236}">
                <a16:creationId xmlns:a16="http://schemas.microsoft.com/office/drawing/2014/main" id="{7CCCDF10-9F9B-476C-9CBC-D989629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业审联动</a:t>
            </a:r>
          </a:p>
        </p:txBody>
      </p:sp>
      <p:cxnSp>
        <p:nvCxnSpPr>
          <p:cNvPr id="27" name="七步连接 5">
            <a:extLst xmlns:a="http://schemas.openxmlformats.org/drawingml/2006/main">
              <a:ext uri="{FF2B5EF4-FFF2-40B4-BE49-F238E27FC236}">
                <a16:creationId xmlns:a16="http://schemas.microsoft.com/office/drawing/2014/main" id="{670599FF-27E1-4041-8755-B8F17FDE29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56825" y="1790700"/>
            <a:ext cx="10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8" name="七步节点 6">
            <a:extLst xmlns:a="http://schemas.openxmlformats.org/drawingml/2006/main">
              <a:ext uri="{FF2B5EF4-FFF2-40B4-BE49-F238E27FC236}">
                <a16:creationId xmlns:a16="http://schemas.microsoft.com/office/drawing/2014/main" id="{30E898AB-BFD0-42C6-91FB-5489BABB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438275"/>
            <a:ext cx="15240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11430">
            <a:solidFill>
              <a:srgbClr val="EA5A26"/>
            </a:solidFill>
            <a:prstDash val="solid"/>
          </a:ln>
        </p:spPr>
      </p:sp>
      <p:sp>
        <p:nvSpPr>
          <p:cNvPr id="29" name="七步编号 6">
            <a:extLst xmlns:a="http://schemas.openxmlformats.org/drawingml/2006/main">
              <a:ext uri="{FF2B5EF4-FFF2-40B4-BE49-F238E27FC236}">
                <a16:creationId xmlns:a16="http://schemas.microsoft.com/office/drawing/2014/main" id="{48E19A37-19CF-4F39-AC80-FC37A3B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5144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7</a:t>
            </a:r>
          </a:p>
        </p:txBody>
      </p:sp>
      <p:sp>
        <p:nvSpPr>
          <p:cNvPr id="30" name="七步名称 6">
            <a:extLst xmlns:a="http://schemas.openxmlformats.org/drawingml/2006/main">
              <a:ext uri="{FF2B5EF4-FFF2-40B4-BE49-F238E27FC236}">
                <a16:creationId xmlns:a16="http://schemas.microsoft.com/office/drawing/2014/main" id="{F550319E-5801-462D-9528-2BAA0E6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8117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考核落地</a:t>
            </a:r>
          </a:p>
        </p:txBody>
      </p:sp>
      <p:graphicFrame>
        <p:nvGraphicFramePr>
          <p:cNvPr id="31" name="七步操作总览">
            <a:extLst xmlns:a="http://schemas.openxmlformats.org/drawingml/2006/main">
              <a:ext uri="{FF2B5EF4-FFF2-40B4-BE49-F238E27FC236}">
                <a16:creationId xmlns:a16="http://schemas.microsoft.com/office/drawing/2014/main" id="{F3DC4795-6214-4EE3-A0DD-0BAC615711D8}"/>
              </a:ext>
            </a:extLst>
          </p:cNvPr>
          <p:cNvGraphicFramePr/>
          <p:nvPr/>
        </p:nvGraphicFramePr>
        <p:xfrm>
          <a:off xmlns:a="http://schemas.openxmlformats.org/drawingml/2006/main" x="400050" y="2343150"/>
          <a:ext xmlns:a="http://schemas.openxmlformats.org/drawingml/2006/main" cx="11391900" cy="33813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428750"/>
                <a:gridCol w="3352800"/>
                <a:gridCol w="2762250"/>
                <a:gridCol w="3848100"/>
              </a:tblGrid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流程环节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工作动作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办理主体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主要交付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1. 任务下发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下发任务，判定风险等级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稽核项目组／三函主审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任务下发、风险等级判定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2. 成因分析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分析成因，判断落地层级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业务部门、合规与稽核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成因结论随措施一并提交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3. 措施制定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制定方案，分级履行审批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业务责任人、合规与稽核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整改措施及审批结果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4. 过程追踪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追踪进度，处理逾期与变更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合规与稽核条线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整改进展、逾期及策略调整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5. 验收质检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三级把关，全流程回溯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业务／稽核／问责室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自验、验收、季度质检结果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6. 业审联动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回溯共性问题，推动长效治理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稽核条线与业务部门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问题回溯与源头治理措施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7. 考核落地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评价完成率与质量，落实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加减分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法律合规部、问责室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合规考核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加减分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评价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七步闭环说明">
            <a:extLst xmlns:a="http://schemas.openxmlformats.org/drawingml/2006/main">
              <a:ext uri="{FF2B5EF4-FFF2-40B4-BE49-F238E27FC236}">
                <a16:creationId xmlns:a16="http://schemas.microsoft.com/office/drawing/2014/main" id="{C7DDE5E8-B2E7-4BEC-8222-E5D6427E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前五步办理具体整改事项；</a:t>
            </a:r>
            <a:r>
              <a:rPr sz="14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新增</a:t>
            </a: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业审联动与考核按周期开展，持续回溯问题与整改结果。</a:t>
            </a:r>
          </a:p>
        </p:txBody>
      </p:sp>
      <p:sp>
        <p:nvSpPr>
          <p:cNvPr id="33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C3A83DF3-0F13-4A14-8D47-5A94BED7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25986484-4B79-48EB-8237-1FAEE377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35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46346BA4-5E62-4526-8D89-659F51C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36" name="页码">
            <a:extLst xmlns:a="http://schemas.openxmlformats.org/drawingml/2006/main">
              <a:ext uri="{FF2B5EF4-FFF2-40B4-BE49-F238E27FC236}">
                <a16:creationId xmlns:a16="http://schemas.microsoft.com/office/drawing/2014/main" id="{275D26AB-E143-4FDA-B75F-D902F1A6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05 / 15</a:t>
            </a:r>
          </a:p>
        </p:txBody>
      </p:sp>
      <p:sp>
        <p:nvSpPr>
          <p:cNvPr id="38" name="七步操作总览圆角遮罩TL">
            <a:extLst xmlns:a="http://schemas.openxmlformats.org/drawingml/2006/main">
              <a:ext uri="{FF2B5EF4-FFF2-40B4-BE49-F238E27FC236}">
                <a16:creationId xmlns:a16="http://schemas.microsoft.com/office/drawing/2014/main" id="{73DDF780-A203-4F91-BECC-D4A6E74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23336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七步操作总览圆角遮罩TR">
            <a:extLst xmlns:a="http://schemas.openxmlformats.org/drawingml/2006/main">
              <a:ext uri="{FF2B5EF4-FFF2-40B4-BE49-F238E27FC236}">
                <a16:creationId xmlns:a16="http://schemas.microsoft.com/office/drawing/2014/main" id="{A0E01E51-3065-4901-AE9C-893B553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77650" y="23336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七步操作总览圆角遮罩BL">
            <a:extLst xmlns:a="http://schemas.openxmlformats.org/drawingml/2006/main">
              <a:ext uri="{FF2B5EF4-FFF2-40B4-BE49-F238E27FC236}">
                <a16:creationId xmlns:a16="http://schemas.microsoft.com/office/drawing/2014/main" id="{6D2FA6C5-43DD-4739-884F-36F69219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56102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七步操作总览圆角遮罩BR">
            <a:extLst xmlns:a="http://schemas.openxmlformats.org/drawingml/2006/main">
              <a:ext uri="{FF2B5EF4-FFF2-40B4-BE49-F238E27FC236}">
                <a16:creationId xmlns:a16="http://schemas.microsoft.com/office/drawing/2014/main" id="{4CB0A193-DF9B-48E9-932A-89C21AE5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77650" y="56102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七步操作总览圆角外线">
            <a:extLst xmlns:a="http://schemas.openxmlformats.org/drawingml/2006/main">
              <a:ext uri="{FF2B5EF4-FFF2-40B4-BE49-F238E27FC236}">
                <a16:creationId xmlns:a16="http://schemas.microsoft.com/office/drawing/2014/main" id="{07345E3D-2B34-4976-9517-19C6B623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391900" cy="3381375"/>
          </a:xfrm>
          <a:prstGeom xmlns:a="http://schemas.openxmlformats.org/drawingml/2006/main" prst="roundRect">
            <a:avLst>
              <a:gd name="adj" fmla="val 33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926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主标题">
            <a:extLst xmlns:a="http://schemas.openxmlformats.org/drawingml/2006/main">
              <a:ext uri="{FF2B5EF4-FFF2-40B4-BE49-F238E27FC236}">
                <a16:creationId xmlns:a16="http://schemas.microsoft.com/office/drawing/2014/main" id="{1FFE2DCB-6E8A-4D3A-8435-F72C81E3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三道防线协同履责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1B0F5E86-E9C2-4F8D-B032-FC83F14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5DBFD6A2-5D29-43C2-B620-BCD950FD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业务负责整改，合规审核督导，稽核独立验收；问责室归口统筹</a:t>
            </a:r>
          </a:p>
        </p:txBody>
      </p:sp>
      <p:sp>
        <p:nvSpPr>
          <p:cNvPr id="4" name="三道防线 0边框">
            <a:extLst xmlns:a="http://schemas.openxmlformats.org/drawingml/2006/main">
              <a:ext uri="{FF2B5EF4-FFF2-40B4-BE49-F238E27FC236}">
                <a16:creationId xmlns:a16="http://schemas.microsoft.com/office/drawing/2014/main" id="{677CBA39-F777-4BD1-A84A-58AC8069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657600" cy="353377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三道防线 0标题底色">
            <a:extLst xmlns:a="http://schemas.openxmlformats.org/drawingml/2006/main">
              <a:ext uri="{FF2B5EF4-FFF2-40B4-BE49-F238E27FC236}">
                <a16:creationId xmlns:a16="http://schemas.microsoft.com/office/drawing/2014/main" id="{6BCAA2C9-F995-4F11-B88E-85CECE7D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36385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三道防线 0标题">
            <a:extLst xmlns:a="http://schemas.openxmlformats.org/drawingml/2006/main">
              <a:ext uri="{FF2B5EF4-FFF2-40B4-BE49-F238E27FC236}">
                <a16:creationId xmlns:a16="http://schemas.microsoft.com/office/drawing/2014/main" id="{589FA980-2231-4AB5-941F-A5C981A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3038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第一道防线</a:t>
            </a:r>
          </a:p>
        </p:txBody>
      </p:sp>
      <p:sp>
        <p:nvSpPr>
          <p:cNvPr id="7" name="防线主体 0底色">
            <a:extLst xmlns:a="http://schemas.openxmlformats.org/drawingml/2006/main">
              <a:ext uri="{FF2B5EF4-FFF2-40B4-BE49-F238E27FC236}">
                <a16:creationId xmlns:a16="http://schemas.microsoft.com/office/drawing/2014/main" id="{E4A728EB-9D20-49EE-9E85-50DA2D21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314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防线主体 0">
            <a:extLst xmlns:a="http://schemas.openxmlformats.org/drawingml/2006/main">
              <a:ext uri="{FF2B5EF4-FFF2-40B4-BE49-F238E27FC236}">
                <a16:creationId xmlns:a16="http://schemas.microsoft.com/office/drawing/2014/main" id="{49C7C156-1AC8-4318-9029-78A7D4D0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业务部门／整改责任人</a:t>
            </a:r>
          </a:p>
        </p:txBody>
      </p:sp>
      <p:sp>
        <p:nvSpPr>
          <p:cNvPr id="9" name="防线职责 0">
            <a:extLst xmlns:a="http://schemas.openxmlformats.org/drawingml/2006/main">
              <a:ext uri="{FF2B5EF4-FFF2-40B4-BE49-F238E27FC236}">
                <a16:creationId xmlns:a16="http://schemas.microsoft.com/office/drawing/2014/main" id="{91000120-397C-4B43-B348-751055E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3314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部门接收任务、指定责任人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主导成因分析、组织措施反馈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责任人拟定方案、推进执行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提交佐证，完成一级自验</a:t>
            </a:r>
          </a:p>
        </p:txBody>
      </p:sp>
      <p:sp>
        <p:nvSpPr>
          <p:cNvPr id="10" name="防线结果分隔 0">
            <a:extLst xmlns:a="http://schemas.openxmlformats.org/drawingml/2006/main">
              <a:ext uri="{FF2B5EF4-FFF2-40B4-BE49-F238E27FC236}">
                <a16:creationId xmlns:a16="http://schemas.microsoft.com/office/drawing/2014/main" id="{963D83EF-4D93-479F-BC26-C0ADF80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1719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1" name="防线履职结果 0">
            <a:extLst xmlns:a="http://schemas.openxmlformats.org/drawingml/2006/main">
              <a:ext uri="{FF2B5EF4-FFF2-40B4-BE49-F238E27FC236}">
                <a16:creationId xmlns:a16="http://schemas.microsoft.com/office/drawing/2014/main" id="{3C356B28-0AAA-412A-8D5B-6269EA5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履职结果：</a:t>
            </a:r>
            <a:b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</a:b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措施方案、执行佐证及一级自验结果</a:t>
            </a:r>
          </a:p>
        </p:txBody>
      </p:sp>
      <p:sp>
        <p:nvSpPr>
          <p:cNvPr id="12" name="三道防线 1边框">
            <a:extLst xmlns:a="http://schemas.openxmlformats.org/drawingml/2006/main">
              <a:ext uri="{FF2B5EF4-FFF2-40B4-BE49-F238E27FC236}">
                <a16:creationId xmlns:a16="http://schemas.microsoft.com/office/drawing/2014/main" id="{1A90B8BD-87DE-4A6E-88AF-D7807E5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09700"/>
            <a:ext cx="3657600" cy="353377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3" name="三道防线 1标题底色">
            <a:extLst xmlns:a="http://schemas.openxmlformats.org/drawingml/2006/main">
              <a:ext uri="{FF2B5EF4-FFF2-40B4-BE49-F238E27FC236}">
                <a16:creationId xmlns:a16="http://schemas.microsoft.com/office/drawing/2014/main" id="{614DFD0C-59E5-4924-ACAB-E77B33D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19225"/>
            <a:ext cx="36385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三道防线 1标题">
            <a:extLst xmlns:a="http://schemas.openxmlformats.org/drawingml/2006/main">
              <a:ext uri="{FF2B5EF4-FFF2-40B4-BE49-F238E27FC236}">
                <a16:creationId xmlns:a16="http://schemas.microsoft.com/office/drawing/2014/main" id="{FF221168-FCE4-4612-A8FE-F4E79BB7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43038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第二道防线</a:t>
            </a:r>
          </a:p>
        </p:txBody>
      </p:sp>
      <p:sp>
        <p:nvSpPr>
          <p:cNvPr id="15" name="防线主体 1底色">
            <a:extLst xmlns:a="http://schemas.openxmlformats.org/drawingml/2006/main">
              <a:ext uri="{FF2B5EF4-FFF2-40B4-BE49-F238E27FC236}">
                <a16:creationId xmlns:a16="http://schemas.microsoft.com/office/drawing/2014/main" id="{57C2D57B-3A38-4294-838C-D2691147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3314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防线主体 1">
            <a:extLst xmlns:a="http://schemas.openxmlformats.org/drawingml/2006/main">
              <a:ext uri="{FF2B5EF4-FFF2-40B4-BE49-F238E27FC236}">
                <a16:creationId xmlns:a16="http://schemas.microsoft.com/office/drawing/2014/main" id="{683B25B1-43F3-4FDD-8EBE-C83594A1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法律合规部</a:t>
            </a:r>
          </a:p>
        </p:txBody>
      </p:sp>
      <p:sp>
        <p:nvSpPr>
          <p:cNvPr id="17" name="防线职责 1">
            <a:extLst xmlns:a="http://schemas.openxmlformats.org/drawingml/2006/main">
              <a:ext uri="{FF2B5EF4-FFF2-40B4-BE49-F238E27FC236}">
                <a16:creationId xmlns:a16="http://schemas.microsoft.com/office/drawing/2014/main" id="{36BE3303-42B8-4B68-9A6A-E8F3DD96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3314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贯通业务与稽核，参与分析及措施制定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审核方案合理性、合规性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开展合规督导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发起合规考核</a:t>
            </a:r>
            <a:r>
              <a:rPr sz="14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加减分</a:t>
            </a:r>
          </a:p>
        </p:txBody>
      </p:sp>
      <p:sp>
        <p:nvSpPr>
          <p:cNvPr id="18" name="防线结果分隔 1">
            <a:extLst xmlns:a="http://schemas.openxmlformats.org/drawingml/2006/main">
              <a:ext uri="{FF2B5EF4-FFF2-40B4-BE49-F238E27FC236}">
                <a16:creationId xmlns:a16="http://schemas.microsoft.com/office/drawing/2014/main" id="{3F0461E0-A5BB-45DD-BB77-780810EC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41719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9" name="防线履职结果 1">
            <a:extLst xmlns:a="http://schemas.openxmlformats.org/drawingml/2006/main">
              <a:ext uri="{FF2B5EF4-FFF2-40B4-BE49-F238E27FC236}">
                <a16:creationId xmlns:a16="http://schemas.microsoft.com/office/drawing/2014/main" id="{BB602E2B-AC26-4722-AA9C-70991BC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62450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履职结果：</a:t>
            </a:r>
            <a:b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</a:b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方案审核、合规督导及考核发起</a:t>
            </a:r>
          </a:p>
        </p:txBody>
      </p:sp>
      <p:sp>
        <p:nvSpPr>
          <p:cNvPr id="20" name="三道防线 2边框">
            <a:extLst xmlns:a="http://schemas.openxmlformats.org/drawingml/2006/main">
              <a:ext uri="{FF2B5EF4-FFF2-40B4-BE49-F238E27FC236}">
                <a16:creationId xmlns:a16="http://schemas.microsoft.com/office/drawing/2014/main" id="{1E291E26-0E68-46EC-8939-AB232188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3657600" cy="353377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21" name="三道防线 2标题底色">
            <a:extLst xmlns:a="http://schemas.openxmlformats.org/drawingml/2006/main">
              <a:ext uri="{FF2B5EF4-FFF2-40B4-BE49-F238E27FC236}">
                <a16:creationId xmlns:a16="http://schemas.microsoft.com/office/drawing/2014/main" id="{CA80B876-D5E5-4E78-ADCC-F0DBC490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19225"/>
            <a:ext cx="36385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三道防线 2标题">
            <a:extLst xmlns:a="http://schemas.openxmlformats.org/drawingml/2006/main">
              <a:ext uri="{FF2B5EF4-FFF2-40B4-BE49-F238E27FC236}">
                <a16:creationId xmlns:a16="http://schemas.microsoft.com/office/drawing/2014/main" id="{ABCA50BA-3565-4ABA-8216-EDAFA12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43038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第三道防线</a:t>
            </a:r>
          </a:p>
        </p:txBody>
      </p:sp>
      <p:sp>
        <p:nvSpPr>
          <p:cNvPr id="23" name="防线主体 2底色">
            <a:extLst xmlns:a="http://schemas.openxmlformats.org/drawingml/2006/main">
              <a:ext uri="{FF2B5EF4-FFF2-40B4-BE49-F238E27FC236}">
                <a16:creationId xmlns:a16="http://schemas.microsoft.com/office/drawing/2014/main" id="{2F8EFE81-1D03-4DA6-A318-D131BC92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3314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防线主体 2">
            <a:extLst xmlns:a="http://schemas.openxmlformats.org/drawingml/2006/main">
              <a:ext uri="{FF2B5EF4-FFF2-40B4-BE49-F238E27FC236}">
                <a16:creationId xmlns:a16="http://schemas.microsoft.com/office/drawing/2014/main" id="{D64BA03A-A50A-4459-9255-C08AAE13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稽核条线／项目组／问责室</a:t>
            </a:r>
          </a:p>
        </p:txBody>
      </p:sp>
      <p:sp>
        <p:nvSpPr>
          <p:cNvPr id="25" name="防线职责 2">
            <a:extLst xmlns:a="http://schemas.openxmlformats.org/drawingml/2006/main">
              <a:ext uri="{FF2B5EF4-FFF2-40B4-BE49-F238E27FC236}">
                <a16:creationId xmlns:a16="http://schemas.microsoft.com/office/drawing/2014/main" id="{6E90BCC9-79FC-4588-B7A8-19F172DA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3147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条线与项目组下发任务、组织分析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月度追踪、二级验收、推动业审联动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问责室归口管理、三级质检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82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统筹报送、验收及考核问责</a:t>
            </a:r>
          </a:p>
        </p:txBody>
      </p:sp>
      <p:sp>
        <p:nvSpPr>
          <p:cNvPr id="26" name="防线结果分隔 2">
            <a:extLst xmlns:a="http://schemas.openxmlformats.org/drawingml/2006/main">
              <a:ext uri="{FF2B5EF4-FFF2-40B4-BE49-F238E27FC236}">
                <a16:creationId xmlns:a16="http://schemas.microsoft.com/office/drawing/2014/main" id="{D897367D-700A-4576-983B-9D28EC14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05800" y="4171950"/>
            <a:ext cx="331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7" name="防线履职结果 2">
            <a:extLst xmlns:a="http://schemas.openxmlformats.org/drawingml/2006/main">
              <a:ext uri="{FF2B5EF4-FFF2-40B4-BE49-F238E27FC236}">
                <a16:creationId xmlns:a16="http://schemas.microsoft.com/office/drawing/2014/main" id="{13655CF0-E20C-46AE-A985-2D4B43DE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履职结果：</a:t>
            </a:r>
            <a:b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</a:b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追踪、验收、质检及问责统筹</a:t>
            </a:r>
          </a:p>
        </p:txBody>
      </p:sp>
      <p:sp>
        <p:nvSpPr>
          <p:cNvPr id="28" name="问责归口统筹边框">
            <a:extLst xmlns:a="http://schemas.openxmlformats.org/drawingml/2006/main">
              <a:ext uri="{FF2B5EF4-FFF2-40B4-BE49-F238E27FC236}">
                <a16:creationId xmlns:a16="http://schemas.microsoft.com/office/drawing/2014/main" id="{5217362C-930A-437E-B6FE-35D8001C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3919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29" name="问责归口统筹标题底色">
            <a:extLst xmlns:a="http://schemas.openxmlformats.org/drawingml/2006/main">
              <a:ext uri="{FF2B5EF4-FFF2-40B4-BE49-F238E27FC236}">
                <a16:creationId xmlns:a16="http://schemas.microsoft.com/office/drawing/2014/main" id="{DC8DA4D9-9880-4FC7-84E9-1836F3AB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172075"/>
            <a:ext cx="113728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问责归口统筹标题">
            <a:extLst xmlns:a="http://schemas.openxmlformats.org/drawingml/2006/main">
              <a:ext uri="{FF2B5EF4-FFF2-40B4-BE49-F238E27FC236}">
                <a16:creationId xmlns:a16="http://schemas.microsoft.com/office/drawing/2014/main" id="{E20603AF-3CA4-49E5-BA79-75607CFA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5888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问责室归口统筹贯穿七步流程</a:t>
            </a:r>
          </a:p>
        </p:txBody>
      </p:sp>
      <p:sp>
        <p:nvSpPr>
          <p:cNvPr id="31" name="问责归口要求">
            <a:extLst xmlns:a="http://schemas.openxmlformats.org/drawingml/2006/main">
              <a:ext uri="{FF2B5EF4-FFF2-40B4-BE49-F238E27FC236}">
                <a16:creationId xmlns:a16="http://schemas.microsoft.com/office/drawing/2014/main" id="{7D8E33E2-E19F-41BF-B8CB-3FCA4FDE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统筹报送、过程推进、稽核验收、质检抽检与考核问责。</a:t>
            </a:r>
            <a:b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</a:b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部门长／分管总按链路审批，接收进展抄送与结果知会；相关科室配合执行及佐证准备。</a:t>
            </a:r>
          </a:p>
        </p:txBody>
      </p:sp>
      <p:sp>
        <p:nvSpPr>
          <p:cNvPr id="32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6057868B-0488-48DD-90F1-D26BE1C1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0DCE9947-67E3-425E-855B-79E090D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34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2C983D55-4200-4033-8068-BECFA738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35" name="页码">
            <a:extLst xmlns:a="http://schemas.openxmlformats.org/drawingml/2006/main">
              <a:ext uri="{FF2B5EF4-FFF2-40B4-BE49-F238E27FC236}">
                <a16:creationId xmlns:a16="http://schemas.microsoft.com/office/drawing/2014/main" id="{CFF2EDA3-9789-40AF-90D3-65FAF68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553896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主标题">
            <a:extLst xmlns:a="http://schemas.openxmlformats.org/drawingml/2006/main">
              <a:ext uri="{FF2B5EF4-FFF2-40B4-BE49-F238E27FC236}">
                <a16:creationId xmlns:a16="http://schemas.microsoft.com/office/drawing/2014/main" id="{0AE24AB9-FE31-4F3C-BF41-79C66978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1.任务下发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8DD9DB92-6CF1-44B7-BCCC-E6A30677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B074E33F-9EF1-4A8A-BC2E-D33E736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按事项来源下发任务，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5个工作日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内反馈整改措施</a:t>
            </a:r>
          </a:p>
        </p:txBody>
      </p:sp>
      <p:graphicFrame>
        <p:nvGraphicFramePr>
          <p:cNvPr id="4" name="任务来源与发送时点">
            <a:extLst xmlns:a="http://schemas.openxmlformats.org/drawingml/2006/main">
              <a:ext uri="{FF2B5EF4-FFF2-40B4-BE49-F238E27FC236}">
                <a16:creationId xmlns:a16="http://schemas.microsoft.com/office/drawing/2014/main" id="{C09DD95E-D3EF-4CE5-A497-80021C183EEC}"/>
              </a:ext>
            </a:extLst>
          </p:cNvPr>
          <p:cNvGraphicFramePr/>
          <p:nvPr/>
        </p:nvGraphicFramePr>
        <p:xfrm>
          <a:off xmlns:a="http://schemas.openxmlformats.org/drawingml/2006/main" x="400050" y="1409700"/>
          <a:ext xmlns:a="http://schemas.openxmlformats.org/drawingml/2006/main" cx="11391900" cy="27051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381125"/>
                <a:gridCol w="4343400"/>
                <a:gridCol w="5667375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办理事项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稽核项目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三函事项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发起人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稽核项目组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三函提交人（主审）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接收对象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被审计单位责任人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责任部门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发送时点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处罚小组结束后立即发送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指令函／警示函：评审会通过后发送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知询函：稽核部公邮发出时同步发送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交付与反馈边框">
            <a:extLst xmlns:a="http://schemas.openxmlformats.org/drawingml/2006/main">
              <a:ext uri="{FF2B5EF4-FFF2-40B4-BE49-F238E27FC236}">
                <a16:creationId xmlns:a16="http://schemas.microsoft.com/office/drawing/2014/main" id="{A55324F4-D037-4902-84F5-57D37622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724400" cy="1895475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6" name="交付与反馈标题底色">
            <a:extLst xmlns:a="http://schemas.openxmlformats.org/drawingml/2006/main">
              <a:ext uri="{FF2B5EF4-FFF2-40B4-BE49-F238E27FC236}">
                <a16:creationId xmlns:a16="http://schemas.microsoft.com/office/drawing/2014/main" id="{54097BF1-FD2D-471F-A830-8C9DB874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62450"/>
            <a:ext cx="47053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交付与反馈标题">
            <a:extLst xmlns:a="http://schemas.openxmlformats.org/drawingml/2006/main">
              <a:ext uri="{FF2B5EF4-FFF2-40B4-BE49-F238E27FC236}">
                <a16:creationId xmlns:a16="http://schemas.microsoft.com/office/drawing/2014/main" id="{82553FD9-59C4-496B-BC9F-A4E53559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6263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交付与反馈</a:t>
            </a:r>
          </a:p>
        </p:txBody>
      </p:sp>
      <p:sp>
        <p:nvSpPr>
          <p:cNvPr id="8" name="交付材料">
            <a:extLst xmlns:a="http://schemas.openxmlformats.org/drawingml/2006/main">
              <a:ext uri="{FF2B5EF4-FFF2-40B4-BE49-F238E27FC236}">
                <a16:creationId xmlns:a16="http://schemas.microsoft.com/office/drawing/2014/main" id="{A2D03A30-2CDC-4FF5-A692-CA1050AA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交付《后续整改措施表》</a:t>
            </a:r>
          </a:p>
        </p:txBody>
      </p:sp>
      <p:sp>
        <p:nvSpPr>
          <p:cNvPr id="9" name="反馈时限">
            <a:extLst xmlns:a="http://schemas.openxmlformats.org/drawingml/2006/main">
              <a:ext uri="{FF2B5EF4-FFF2-40B4-BE49-F238E27FC236}">
                <a16:creationId xmlns:a16="http://schemas.microsoft.com/office/drawing/2014/main" id="{E100D3CA-A535-4C27-AD35-6C4EF341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8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5个工作日</a:t>
            </a:r>
            <a:r>
              <a:rPr sz="18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内反馈</a:t>
            </a:r>
          </a:p>
        </p:txBody>
      </p:sp>
      <p:sp>
        <p:nvSpPr>
          <p:cNvPr id="10" name="成因同步交付">
            <a:extLst xmlns:a="http://schemas.openxmlformats.org/drawingml/2006/main">
              <a:ext uri="{FF2B5EF4-FFF2-40B4-BE49-F238E27FC236}">
                <a16:creationId xmlns:a16="http://schemas.microsoft.com/office/drawing/2014/main" id="{0EB8AF14-5DAC-4250-8A0B-5007FE5C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成因分析随措施一并提交。</a:t>
            </a:r>
          </a:p>
        </p:txBody>
      </p:sp>
      <p:sp>
        <p:nvSpPr>
          <p:cNvPr id="11" name="同步对象边框">
            <a:extLst xmlns:a="http://schemas.openxmlformats.org/drawingml/2006/main">
              <a:ext uri="{FF2B5EF4-FFF2-40B4-BE49-F238E27FC236}">
                <a16:creationId xmlns:a16="http://schemas.microsoft.com/office/drawing/2014/main" id="{BC3DBD97-0C74-48DC-86EA-CA5562BC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52925"/>
            <a:ext cx="6419850" cy="1895475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2" name="同步对象标题底色">
            <a:extLst xmlns:a="http://schemas.openxmlformats.org/drawingml/2006/main">
              <a:ext uri="{FF2B5EF4-FFF2-40B4-BE49-F238E27FC236}">
                <a16:creationId xmlns:a16="http://schemas.microsoft.com/office/drawing/2014/main" id="{964B547C-EE90-4B91-8678-007927D2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62450"/>
            <a:ext cx="64008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同步对象标题">
            <a:extLst xmlns:a="http://schemas.openxmlformats.org/drawingml/2006/main">
              <a:ext uri="{FF2B5EF4-FFF2-40B4-BE49-F238E27FC236}">
                <a16:creationId xmlns:a16="http://schemas.microsoft.com/office/drawing/2014/main" id="{6CD18063-7606-45AD-A485-6AC37439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86263"/>
            <a:ext cx="615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同步相关负责人和工作对接人</a:t>
            </a:r>
          </a:p>
        </p:txBody>
      </p:sp>
      <p:sp>
        <p:nvSpPr>
          <p:cNvPr id="14" name="同步相关对象">
            <a:extLst xmlns:a="http://schemas.openxmlformats.org/drawingml/2006/main">
              <a:ext uri="{FF2B5EF4-FFF2-40B4-BE49-F238E27FC236}">
                <a16:creationId xmlns:a16="http://schemas.microsoft.com/office/drawing/2014/main" id="{4DB3AC60-0617-4B90-9916-611C0B1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48225"/>
            <a:ext cx="6076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97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法律合规部负责人、稽核监察部负责人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97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稽核工作对接人、稽核条线负责人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97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问责规划室负责人、项目经理</a:t>
            </a:r>
          </a:p>
        </p:txBody>
      </p:sp>
      <p:sp>
        <p:nvSpPr>
          <p:cNvPr id="15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38A519C7-590B-42ED-9111-ADAE8FBF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17CD0EB6-8C5A-4AF8-9B34-B2156314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17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F2CD98C1-ECAD-42C1-94E1-E4AD082E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18" name="页码">
            <a:extLst xmlns:a="http://schemas.openxmlformats.org/drawingml/2006/main">
              <a:ext uri="{FF2B5EF4-FFF2-40B4-BE49-F238E27FC236}">
                <a16:creationId xmlns:a16="http://schemas.microsoft.com/office/drawing/2014/main" id="{72F2E5B2-9AAF-49B1-857B-65E69B37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07 / 15</a:t>
            </a:r>
          </a:p>
        </p:txBody>
      </p:sp>
      <p:sp>
        <p:nvSpPr>
          <p:cNvPr id="20" name="任务来源与发送时点圆角遮罩TL">
            <a:extLst xmlns:a="http://schemas.openxmlformats.org/drawingml/2006/main">
              <a:ext uri="{FF2B5EF4-FFF2-40B4-BE49-F238E27FC236}">
                <a16:creationId xmlns:a16="http://schemas.microsoft.com/office/drawing/2014/main" id="{00C8ADA9-4A9E-49C4-94A4-4E1A5C48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14001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任务来源与发送时点圆角遮罩TR">
            <a:extLst xmlns:a="http://schemas.openxmlformats.org/drawingml/2006/main">
              <a:ext uri="{FF2B5EF4-FFF2-40B4-BE49-F238E27FC236}">
                <a16:creationId xmlns:a16="http://schemas.microsoft.com/office/drawing/2014/main" id="{CDA32612-30D4-48F4-BAAE-CF637ED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77650" y="14001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任务来源与发送时点圆角遮罩BL">
            <a:extLst xmlns:a="http://schemas.openxmlformats.org/drawingml/2006/main">
              <a:ext uri="{FF2B5EF4-FFF2-40B4-BE49-F238E27FC236}">
                <a16:creationId xmlns:a16="http://schemas.microsoft.com/office/drawing/2014/main" id="{8FFCC151-B256-479C-8694-0B0212A9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40005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任务来源与发送时点圆角遮罩BR">
            <a:extLst xmlns:a="http://schemas.openxmlformats.org/drawingml/2006/main">
              <a:ext uri="{FF2B5EF4-FFF2-40B4-BE49-F238E27FC236}">
                <a16:creationId xmlns:a16="http://schemas.microsoft.com/office/drawing/2014/main" id="{49B9A501-3E2A-4D0C-8F47-ABC7001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77650" y="40005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任务来源与发送时点圆角外线">
            <a:extLst xmlns:a="http://schemas.openxmlformats.org/drawingml/2006/main">
              <a:ext uri="{FF2B5EF4-FFF2-40B4-BE49-F238E27FC236}">
                <a16:creationId xmlns:a16="http://schemas.microsoft.com/office/drawing/2014/main" id="{A9FE61CA-5B88-4F97-8C57-CB763EAE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2705100"/>
          </a:xfrm>
          <a:prstGeom xmlns:a="http://schemas.openxmlformats.org/drawingml/2006/main" prst="roundRect">
            <a:avLst>
              <a:gd name="adj" fmla="val 42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4415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主标题">
            <a:extLst xmlns:a="http://schemas.openxmlformats.org/drawingml/2006/main">
              <a:ext uri="{FF2B5EF4-FFF2-40B4-BE49-F238E27FC236}">
                <a16:creationId xmlns:a16="http://schemas.microsoft.com/office/drawing/2014/main" id="{EC2959C9-21F5-483B-BC6C-03D39048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1.任务下发：风险分级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5E05A340-115F-4D62-9709-A5BDFCA1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49FAB434-E0B7-4DC5-B7F3-7A5086FC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本次明确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先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定等级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，再匹配责任、审批、追踪与质检要求</a:t>
            </a:r>
          </a:p>
        </p:txBody>
      </p:sp>
      <p:graphicFrame>
        <p:nvGraphicFramePr>
          <p:cNvPr id="4" name="风险判定与差异化管理">
            <a:extLst xmlns:a="http://schemas.openxmlformats.org/drawingml/2006/main">
              <a:ext uri="{FF2B5EF4-FFF2-40B4-BE49-F238E27FC236}">
                <a16:creationId xmlns:a16="http://schemas.microsoft.com/office/drawing/2014/main" id="{99D27040-99C3-4C44-B515-1F3F1B1D39CD}"/>
              </a:ext>
            </a:extLst>
          </p:cNvPr>
          <p:cNvGraphicFramePr/>
          <p:nvPr/>
        </p:nvGraphicFramePr>
        <p:xfrm>
          <a:off xmlns:a="http://schemas.openxmlformats.org/drawingml/2006/main" x="400050" y="1352550"/>
          <a:ext xmlns:a="http://schemas.openxmlformats.org/drawingml/2006/main" cx="11391900" cy="4914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797300"/>
                <a:gridCol w="3797300"/>
                <a:gridCol w="3797300"/>
              </a:tblGrid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高风险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中风险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低风险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</a:tr>
              <a:tr h="30099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公司级／外部监管／条线级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触碰监管红线，可能或已引发监管处罚 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/ 行业通报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反洗钱、消费者权益保护等敏感领域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跨条线、跨机构系统性问题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核心系统改造或制度顶层缺陷，影响战略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落地 / 业务连续性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屡查屡犯、屡禁不止，或违规持续发生无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人察觉、管理缺位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已引发案件、损失金额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超百万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；潜在损失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可能超过实际损失</a:t>
                      </a:r>
                    </a:p>
                  </a:txBody>
                  <a:tcPr marL="76200" marR="76200" marT="95250" marB="57150" anchor="t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机构级／条线级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流程不规范、局部管理漏洞、关键控制缺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失或执行不到位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损失金额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未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超百万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，但仍有风险隐患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无直接损失，但可能在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未来1年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内产生损失</a:t>
                      </a:r>
                    </a:p>
                  </a:txBody>
                  <a:tcPr marL="76200" marR="76200" marT="95250" marB="57150" anchor="t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机构级／岗位级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偶发操作失误，有明确纠正措施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且已立即整改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隐患较低、未产生损失，预计不会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产生风险影响</a:t>
                      </a:r>
                    </a:p>
                    <a:p>
                      <a:pPr marL="177800" indent="-88900"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Char char="·"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不违反强制性规定，属于新业务探索中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的试错性问题</a:t>
                      </a:r>
                    </a:p>
                  </a:txBody>
                  <a:tcPr marL="76200" marR="76200" marT="95250" marB="57150" anchor="t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影响范围：公司整体声誉 / 经营、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监管关注 / 客户投诉，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或全公司某业务条线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影响范围：某分公司整体，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或分公司某业务条线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影响范围：某分支机构整体，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或单个岗位 / 个人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提级管理、升级审批、加大验收力度并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纳入重点考核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按标准流程整改验收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责任部门内部自闭环，定期汇报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</a:tr>
            </a:tbl>
          </a:graphicData>
        </a:graphic>
      </p:graphicFrame>
      <p:sp>
        <p:nvSpPr>
          <p:cNvPr id="5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56FFE593-5896-4AD8-81BD-26616D2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C7037B8E-FB30-438B-98AC-5442D509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7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6ABD08F3-5347-4D61-8BC1-ADE31CE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8" name="页码">
            <a:extLst xmlns:a="http://schemas.openxmlformats.org/drawingml/2006/main">
              <a:ext uri="{FF2B5EF4-FFF2-40B4-BE49-F238E27FC236}">
                <a16:creationId xmlns:a16="http://schemas.microsoft.com/office/drawing/2014/main" id="{EA88AAF2-9A4B-4731-A0BE-765BB1F9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08 / 15</a:t>
            </a:r>
          </a:p>
        </p:txBody>
      </p:sp>
      <p:sp>
        <p:nvSpPr>
          <p:cNvPr id="10" name="风险判定与差异化管理圆角遮罩TL">
            <a:extLst xmlns:a="http://schemas.openxmlformats.org/drawingml/2006/main">
              <a:ext uri="{FF2B5EF4-FFF2-40B4-BE49-F238E27FC236}">
                <a16:creationId xmlns:a16="http://schemas.microsoft.com/office/drawing/2014/main" id="{C09E42D2-6F1E-4D9F-8801-8E9115D4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13430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风险判定与差异化管理圆角遮罩TR">
            <a:extLst xmlns:a="http://schemas.openxmlformats.org/drawingml/2006/main">
              <a:ext uri="{FF2B5EF4-FFF2-40B4-BE49-F238E27FC236}">
                <a16:creationId xmlns:a16="http://schemas.microsoft.com/office/drawing/2014/main" id="{E48DB672-7E78-46C5-A6B8-2769057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77650" y="13430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风险判定与差异化管理圆角遮罩BL">
            <a:extLst xmlns:a="http://schemas.openxmlformats.org/drawingml/2006/main">
              <a:ext uri="{FF2B5EF4-FFF2-40B4-BE49-F238E27FC236}">
                <a16:creationId xmlns:a16="http://schemas.microsoft.com/office/drawing/2014/main" id="{111B823D-BFFE-48B9-9DB9-89BA5AC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61531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风险判定与差异化管理圆角遮罩BR">
            <a:extLst xmlns:a="http://schemas.openxmlformats.org/drawingml/2006/main">
              <a:ext uri="{FF2B5EF4-FFF2-40B4-BE49-F238E27FC236}">
                <a16:creationId xmlns:a16="http://schemas.microsoft.com/office/drawing/2014/main" id="{0FF31F48-5591-44D8-B981-01AA6BD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77650" y="61531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风险判定与差异化管理圆角外线">
            <a:extLst xmlns:a="http://schemas.openxmlformats.org/drawingml/2006/main">
              <a:ext uri="{FF2B5EF4-FFF2-40B4-BE49-F238E27FC236}">
                <a16:creationId xmlns:a16="http://schemas.microsoft.com/office/drawing/2014/main" id="{D8E8C5D5-9F24-467B-A0F4-05E5E48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91490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4713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主标题">
            <a:extLst xmlns:a="http://schemas.openxmlformats.org/drawingml/2006/main">
              <a:ext uri="{FF2B5EF4-FFF2-40B4-BE49-F238E27FC236}">
                <a16:creationId xmlns:a16="http://schemas.microsoft.com/office/drawing/2014/main" id="{AE4FBCE1-9A30-420F-A59C-5B07817D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2.成因分析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91E7809C-3B71-4A74-8E91-248C5CF6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576E66EC-55B1-4561-A4AD-7CBE54E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突出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落地判断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，稽核与合规推动机构、总部沟通</a:t>
            </a:r>
          </a:p>
        </p:txBody>
      </p:sp>
      <p:sp>
        <p:nvSpPr>
          <p:cNvPr id="4" name="成因五维工具边框">
            <a:extLst xmlns:a="http://schemas.openxmlformats.org/drawingml/2006/main">
              <a:ext uri="{FF2B5EF4-FFF2-40B4-BE49-F238E27FC236}">
                <a16:creationId xmlns:a16="http://schemas.microsoft.com/office/drawing/2014/main" id="{0EDF7BCF-6940-4235-8B56-7A503403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686050" cy="4838700"/>
          </a:xfrm>
          <a:prstGeom xmlns:a="http://schemas.openxmlformats.org/drawingml/2006/main" prst="roundRect">
            <a:avLst>
              <a:gd name="adj" fmla="val 49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成因五维工具标题底色">
            <a:extLst xmlns:a="http://schemas.openxmlformats.org/drawingml/2006/main">
              <a:ext uri="{FF2B5EF4-FFF2-40B4-BE49-F238E27FC236}">
                <a16:creationId xmlns:a16="http://schemas.microsoft.com/office/drawing/2014/main" id="{D8EE5A39-6901-450D-9960-C5B5265A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2667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成因五维工具标题">
            <a:extLst xmlns:a="http://schemas.openxmlformats.org/drawingml/2006/main">
              <a:ext uri="{FF2B5EF4-FFF2-40B4-BE49-F238E27FC236}">
                <a16:creationId xmlns:a16="http://schemas.microsoft.com/office/drawing/2014/main" id="{538DC7B3-DBDD-4CB5-A783-11F68114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五维分析工具</a:t>
            </a:r>
          </a:p>
        </p:txBody>
      </p:sp>
      <p:graphicFrame>
        <p:nvGraphicFramePr>
          <p:cNvPr id="7" name="五维工具及原文解释">
            <a:extLst xmlns:a="http://schemas.openxmlformats.org/drawingml/2006/main">
              <a:ext uri="{FF2B5EF4-FFF2-40B4-BE49-F238E27FC236}">
                <a16:creationId xmlns:a16="http://schemas.microsoft.com/office/drawing/2014/main" id="{BD021141-C07C-4DA0-978F-D6873FEE5402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234315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876300"/>
                <a:gridCol w="146685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流程缺陷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环节缺失、断裂或设计不合理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系统漏洞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功能、权限或校验存在缺口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制度缺失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制度标准缺位、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滞后或口径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不统一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管理失职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监督、审核、督导或责任落实不到位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操作错误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执行偏差、录入错误或未按规程操作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成因落地判断边框">
            <a:extLst xmlns:a="http://schemas.openxmlformats.org/drawingml/2006/main">
              <a:ext uri="{FF2B5EF4-FFF2-40B4-BE49-F238E27FC236}">
                <a16:creationId xmlns:a16="http://schemas.microsoft.com/office/drawing/2014/main" id="{4B7DC3E3-16A4-4A46-8ED0-7BB009E0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8458200" cy="4838700"/>
          </a:xfrm>
          <a:prstGeom xmlns:a="http://schemas.openxmlformats.org/drawingml/2006/main" prst="roundRect">
            <a:avLst>
              <a:gd name="adj" fmla="val 2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9" name="成因落地判断标题底色">
            <a:extLst xmlns:a="http://schemas.openxmlformats.org/drawingml/2006/main">
              <a:ext uri="{FF2B5EF4-FFF2-40B4-BE49-F238E27FC236}">
                <a16:creationId xmlns:a16="http://schemas.microsoft.com/office/drawing/2014/main" id="{2081D134-FB77-4A5F-8A6E-B7967F9B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19225"/>
            <a:ext cx="8439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成因落地判断标题">
            <a:extLst xmlns:a="http://schemas.openxmlformats.org/drawingml/2006/main">
              <a:ext uri="{FF2B5EF4-FFF2-40B4-BE49-F238E27FC236}">
                <a16:creationId xmlns:a16="http://schemas.microsoft.com/office/drawing/2014/main" id="{082B705A-7BEF-4B98-A2D9-8DB147AD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43038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落地判断与责任衔接</a:t>
            </a:r>
          </a:p>
        </p:txBody>
      </p:sp>
      <p:sp>
        <p:nvSpPr>
          <p:cNvPr id="11" name="分析主责及沟通职责">
            <a:extLst xmlns:a="http://schemas.openxmlformats.org/drawingml/2006/main">
              <a:ext uri="{FF2B5EF4-FFF2-40B4-BE49-F238E27FC236}">
                <a16:creationId xmlns:a16="http://schemas.microsoft.com/office/drawing/2014/main" id="{E92F6E39-F770-4720-A07F-979C5AB3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8115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7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业务部门主导，合规指导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75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稽核与合规推动机构、总部沟通，判断问题根因与落地层级。</a:t>
            </a:r>
          </a:p>
        </p:txBody>
      </p:sp>
      <p:sp>
        <p:nvSpPr>
          <p:cNvPr id="12" name="分析职责与落地分隔">
            <a:extLst xmlns:a="http://schemas.openxmlformats.org/drawingml/2006/main">
              <a:ext uri="{FF2B5EF4-FFF2-40B4-BE49-F238E27FC236}">
                <a16:creationId xmlns:a16="http://schemas.microsoft.com/office/drawing/2014/main" id="{1654DCC9-A6D5-46CF-BFAE-63B7536D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5200" y="2733675"/>
            <a:ext cx="811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3" name="落地判断端 0边框">
            <a:extLst xmlns:a="http://schemas.openxmlformats.org/drawingml/2006/main">
              <a:ext uri="{FF2B5EF4-FFF2-40B4-BE49-F238E27FC236}">
                <a16:creationId xmlns:a16="http://schemas.microsoft.com/office/drawing/2014/main" id="{6A8823E3-B63B-4009-BD06-C5B125F9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398145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4" name="落地判断端 0标题分隔">
            <a:extLst xmlns:a="http://schemas.openxmlformats.org/drawingml/2006/main">
              <a:ext uri="{FF2B5EF4-FFF2-40B4-BE49-F238E27FC236}">
                <a16:creationId xmlns:a16="http://schemas.microsoft.com/office/drawing/2014/main" id="{B6E55380-9F94-4F90-A327-7FD3E4A0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5200" y="3181350"/>
            <a:ext cx="398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5A26"/>
            </a:solidFill>
            <a:prstDash val="solid"/>
          </a:ln>
        </p:spPr>
      </p:sp>
      <p:sp>
        <p:nvSpPr>
          <p:cNvPr id="15" name="落地判断端 0标题">
            <a:extLst xmlns:a="http://schemas.openxmlformats.org/drawingml/2006/main">
              <a:ext uri="{FF2B5EF4-FFF2-40B4-BE49-F238E27FC236}">
                <a16:creationId xmlns:a16="http://schemas.microsoft.com/office/drawing/2014/main" id="{93A3F9B8-AF5F-478A-B0F5-52258BB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机构端落地</a:t>
            </a:r>
          </a:p>
        </p:txBody>
      </p:sp>
      <p:graphicFrame>
        <p:nvGraphicFramePr>
          <p:cNvPr id="16" name="落地判断字段 0">
            <a:extLst xmlns:a="http://schemas.openxmlformats.org/drawingml/2006/main">
              <a:ext uri="{FF2B5EF4-FFF2-40B4-BE49-F238E27FC236}">
                <a16:creationId xmlns:a16="http://schemas.microsoft.com/office/drawing/2014/main" id="{6397C7F4-C560-4F65-9A20-1CC60E723316}"/>
              </a:ext>
            </a:extLst>
          </p:cNvPr>
          <p:cNvGraphicFramePr/>
          <p:nvPr/>
        </p:nvGraphicFramePr>
        <p:xfrm>
          <a:off xmlns:a="http://schemas.openxmlformats.org/drawingml/2006/main" x="3676650" y="3352800"/>
          <a:ext xmlns:a="http://schemas.openxmlformats.org/drawingml/2006/main" cx="3638550" cy="1485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47750"/>
                <a:gridCol w="2590800"/>
              </a:tblGrid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问题性质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机制落地、执行层面问题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落地要求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明确机构可执行的整改措施与责任人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落地判断端 1边框">
            <a:extLst xmlns:a="http://schemas.openxmlformats.org/drawingml/2006/main">
              <a:ext uri="{FF2B5EF4-FFF2-40B4-BE49-F238E27FC236}">
                <a16:creationId xmlns:a16="http://schemas.microsoft.com/office/drawing/2014/main" id="{0AE2B514-928F-49C9-B141-9FE44786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398145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8" name="落地判断端 1标题分隔">
            <a:extLst xmlns:a="http://schemas.openxmlformats.org/drawingml/2006/main">
              <a:ext uri="{FF2B5EF4-FFF2-40B4-BE49-F238E27FC236}">
                <a16:creationId xmlns:a16="http://schemas.microsoft.com/office/drawing/2014/main" id="{E9DB67BD-D94D-460F-8ED8-2DEFDAE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39050" y="3181350"/>
            <a:ext cx="398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5A26"/>
            </a:solidFill>
            <a:prstDash val="solid"/>
          </a:ln>
        </p:spPr>
      </p:sp>
      <p:sp>
        <p:nvSpPr>
          <p:cNvPr id="19" name="落地判断端 1标题">
            <a:extLst xmlns:a="http://schemas.openxmlformats.org/drawingml/2006/main">
              <a:ext uri="{FF2B5EF4-FFF2-40B4-BE49-F238E27FC236}">
                <a16:creationId xmlns:a16="http://schemas.microsoft.com/office/drawing/2014/main" id="{C9FEBA13-956A-489E-9D9B-6F901474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051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总部端落地</a:t>
            </a:r>
          </a:p>
        </p:txBody>
      </p:sp>
      <p:graphicFrame>
        <p:nvGraphicFramePr>
          <p:cNvPr id="20" name="落地判断字段 1">
            <a:extLst xmlns:a="http://schemas.openxmlformats.org/drawingml/2006/main">
              <a:ext uri="{FF2B5EF4-FFF2-40B4-BE49-F238E27FC236}">
                <a16:creationId xmlns:a16="http://schemas.microsoft.com/office/drawing/2014/main" id="{9A38CBDD-4956-4591-9572-0C3D2DC7BD74}"/>
              </a:ext>
            </a:extLst>
          </p:cNvPr>
          <p:cNvGraphicFramePr/>
          <p:nvPr/>
        </p:nvGraphicFramePr>
        <p:xfrm>
          <a:off xmlns:a="http://schemas.openxmlformats.org/drawingml/2006/main" x="7810500" y="3352800"/>
          <a:ext xmlns:a="http://schemas.openxmlformats.org/drawingml/2006/main" cx="3638550" cy="1485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47750"/>
                <a:gridCol w="2590800"/>
              </a:tblGrid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问题性质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制度、系统、机制层面问题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落地要求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推动总部与机构沟通，明确源头治理措施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分析交付要求底色">
            <a:extLst xmlns:a="http://schemas.openxmlformats.org/drawingml/2006/main">
              <a:ext uri="{FF2B5EF4-FFF2-40B4-BE49-F238E27FC236}">
                <a16:creationId xmlns:a16="http://schemas.microsoft.com/office/drawing/2014/main" id="{3FB71C40-EB28-4A01-B028-6F84F382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67325"/>
            <a:ext cx="8115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分析交付要求">
            <a:extLst xmlns:a="http://schemas.openxmlformats.org/drawingml/2006/main">
              <a:ext uri="{FF2B5EF4-FFF2-40B4-BE49-F238E27FC236}">
                <a16:creationId xmlns:a16="http://schemas.microsoft.com/office/drawing/2014/main" id="{473F4073-C9FB-438D-A401-904B77A7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05450"/>
            <a:ext cx="788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分析结论随整改措施一并提交，作为措施制定的依据。五个维度可同时涉及。</a:t>
            </a:r>
          </a:p>
        </p:txBody>
      </p:sp>
      <p:sp>
        <p:nvSpPr>
          <p:cNvPr id="23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51ABC663-772A-40B5-B087-126DA2F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B1580E8D-E36F-466E-A519-1A8EFF69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25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6212151A-43DB-4282-B372-9D4D7A43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26" name="页码">
            <a:extLst xmlns:a="http://schemas.openxmlformats.org/drawingml/2006/main">
              <a:ext uri="{FF2B5EF4-FFF2-40B4-BE49-F238E27FC236}">
                <a16:creationId xmlns:a16="http://schemas.microsoft.com/office/drawing/2014/main" id="{0D78C7C3-5D8C-4AEC-9ADB-7812F1BB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09 / 15</a:t>
            </a:r>
          </a:p>
        </p:txBody>
      </p:sp>
      <p:sp>
        <p:nvSpPr>
          <p:cNvPr id="28" name="五维工具及原文解释圆角遮罩TL">
            <a:extLst xmlns:a="http://schemas.openxmlformats.org/drawingml/2006/main">
              <a:ext uri="{FF2B5EF4-FFF2-40B4-BE49-F238E27FC236}">
                <a16:creationId xmlns:a16="http://schemas.microsoft.com/office/drawing/2014/main" id="{50101C76-6AFC-4E2B-9606-EA54BAB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五维工具及原文解释圆角遮罩TR">
            <a:extLst xmlns:a="http://schemas.openxmlformats.org/drawingml/2006/main">
              <a:ext uri="{FF2B5EF4-FFF2-40B4-BE49-F238E27FC236}">
                <a16:creationId xmlns:a16="http://schemas.microsoft.com/office/drawing/2014/main" id="{3EE47358-C247-46E3-B16C-278DF1A3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00350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五维工具及原文解释圆角遮罩BL">
            <a:extLst xmlns:a="http://schemas.openxmlformats.org/drawingml/2006/main">
              <a:ext uri="{FF2B5EF4-FFF2-40B4-BE49-F238E27FC236}">
                <a16:creationId xmlns:a16="http://schemas.microsoft.com/office/drawing/2014/main" id="{7CDAFEE3-1360-4AEC-8BE1-246B500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975" y="59245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五维工具及原文解释圆角遮罩BR">
            <a:extLst xmlns:a="http://schemas.openxmlformats.org/drawingml/2006/main">
              <a:ext uri="{FF2B5EF4-FFF2-40B4-BE49-F238E27FC236}">
                <a16:creationId xmlns:a16="http://schemas.microsoft.com/office/drawing/2014/main" id="{5BC286A1-70E0-4EB4-8C74-61AE224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800350" y="59245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五维工具及原文解释圆角外线">
            <a:extLst xmlns:a="http://schemas.openxmlformats.org/drawingml/2006/main">
              <a:ext uri="{FF2B5EF4-FFF2-40B4-BE49-F238E27FC236}">
                <a16:creationId xmlns:a16="http://schemas.microsoft.com/office/drawing/2014/main" id="{34175228-5F3F-4FF7-B7B5-EA297D23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2343150" cy="4095750"/>
          </a:xfrm>
          <a:prstGeom xmlns:a="http://schemas.openxmlformats.org/drawingml/2006/main" prst="roundRect">
            <a:avLst>
              <a:gd name="adj" fmla="val 48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3" name="落地判断字段 0圆角遮罩TL">
            <a:extLst xmlns:a="http://schemas.openxmlformats.org/drawingml/2006/main">
              <a:ext uri="{FF2B5EF4-FFF2-40B4-BE49-F238E27FC236}">
                <a16:creationId xmlns:a16="http://schemas.microsoft.com/office/drawing/2014/main" id="{B8B31E18-8E7C-4F61-90B3-8BA5CAB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33432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落地判断字段 0圆角遮罩TR">
            <a:extLst xmlns:a="http://schemas.openxmlformats.org/drawingml/2006/main">
              <a:ext uri="{FF2B5EF4-FFF2-40B4-BE49-F238E27FC236}">
                <a16:creationId xmlns:a16="http://schemas.microsoft.com/office/drawing/2014/main" id="{1C96DE3B-7DED-4B9E-AD59-055D6320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00900" y="33432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落地判断字段 0圆角遮罩BL">
            <a:extLst xmlns:a="http://schemas.openxmlformats.org/drawingml/2006/main">
              <a:ext uri="{FF2B5EF4-FFF2-40B4-BE49-F238E27FC236}">
                <a16:creationId xmlns:a16="http://schemas.microsoft.com/office/drawing/2014/main" id="{ADBF8BA3-AB5E-4FEE-B6F0-EBC280D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67125" y="47244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落地判断字段 0圆角遮罩BR">
            <a:extLst xmlns:a="http://schemas.openxmlformats.org/drawingml/2006/main">
              <a:ext uri="{FF2B5EF4-FFF2-40B4-BE49-F238E27FC236}">
                <a16:creationId xmlns:a16="http://schemas.microsoft.com/office/drawing/2014/main" id="{A7889181-E0E4-404B-8418-175B04A4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00900" y="47244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落地判断字段 0圆角外线">
            <a:extLst xmlns:a="http://schemas.openxmlformats.org/drawingml/2006/main">
              <a:ext uri="{FF2B5EF4-FFF2-40B4-BE49-F238E27FC236}">
                <a16:creationId xmlns:a16="http://schemas.microsoft.com/office/drawing/2014/main" id="{892FF475-FE5F-4FE8-90A4-720B5B9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3638550" cy="148590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8" name="落地判断字段 1圆角遮罩TL">
            <a:extLst xmlns:a="http://schemas.openxmlformats.org/drawingml/2006/main">
              <a:ext uri="{FF2B5EF4-FFF2-40B4-BE49-F238E27FC236}">
                <a16:creationId xmlns:a16="http://schemas.microsoft.com/office/drawing/2014/main" id="{7B70FB10-24B1-4B81-8B74-3DA6C1B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00975" y="33432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落地判断字段 1圆角遮罩TR">
            <a:extLst xmlns:a="http://schemas.openxmlformats.org/drawingml/2006/main">
              <a:ext uri="{FF2B5EF4-FFF2-40B4-BE49-F238E27FC236}">
                <a16:creationId xmlns:a16="http://schemas.microsoft.com/office/drawing/2014/main" id="{5710A814-7716-4660-8EF3-4A5E83C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334750" y="33432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落地判断字段 1圆角遮罩BL">
            <a:extLst xmlns:a="http://schemas.openxmlformats.org/drawingml/2006/main">
              <a:ext uri="{FF2B5EF4-FFF2-40B4-BE49-F238E27FC236}">
                <a16:creationId xmlns:a16="http://schemas.microsoft.com/office/drawing/2014/main" id="{5F6D4B57-84FE-4568-8EB3-3D58BA34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00975" y="47244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落地判断字段 1圆角遮罩BR">
            <a:extLst xmlns:a="http://schemas.openxmlformats.org/drawingml/2006/main">
              <a:ext uri="{FF2B5EF4-FFF2-40B4-BE49-F238E27FC236}">
                <a16:creationId xmlns:a16="http://schemas.microsoft.com/office/drawing/2014/main" id="{67F85132-7314-45A5-A97D-B790FF2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334750" y="47244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落地判断字段 1圆角外线">
            <a:extLst xmlns:a="http://schemas.openxmlformats.org/drawingml/2006/main">
              <a:ext uri="{FF2B5EF4-FFF2-40B4-BE49-F238E27FC236}">
                <a16:creationId xmlns:a16="http://schemas.microsoft.com/office/drawing/2014/main" id="{0645661E-4C8D-4C5F-BA52-6ADF266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3638550" cy="148590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411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主标题">
            <a:extLst xmlns:a="http://schemas.openxmlformats.org/drawingml/2006/main">
              <a:ext uri="{FF2B5EF4-FFF2-40B4-BE49-F238E27FC236}">
                <a16:creationId xmlns:a16="http://schemas.microsoft.com/office/drawing/2014/main" id="{6C9DB6C3-77BB-46EB-A1AB-F3A402BC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3.措施制定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8ACD9111-74EA-4932-B805-0693B9B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70468D7F-658C-42D4-A0BE-5A0E12D0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措施对应成因，写清举措、责任人和完成时限</a:t>
            </a:r>
          </a:p>
        </p:txBody>
      </p:sp>
      <p:sp>
        <p:nvSpPr>
          <p:cNvPr id="4" name="措施方案字段边框">
            <a:extLst xmlns:a="http://schemas.openxmlformats.org/drawingml/2006/main">
              <a:ext uri="{FF2B5EF4-FFF2-40B4-BE49-F238E27FC236}">
                <a16:creationId xmlns:a16="http://schemas.microsoft.com/office/drawing/2014/main" id="{503F4AC1-CA15-43B5-85EC-FEF18DA4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857500" cy="48387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措施方案字段标题底色">
            <a:extLst xmlns:a="http://schemas.openxmlformats.org/drawingml/2006/main">
              <a:ext uri="{FF2B5EF4-FFF2-40B4-BE49-F238E27FC236}">
                <a16:creationId xmlns:a16="http://schemas.microsoft.com/office/drawing/2014/main" id="{4E7BEBCE-EE8F-442B-87C6-F3560BE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28384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措施方案字段标题">
            <a:extLst xmlns:a="http://schemas.openxmlformats.org/drawingml/2006/main">
              <a:ext uri="{FF2B5EF4-FFF2-40B4-BE49-F238E27FC236}">
                <a16:creationId xmlns:a16="http://schemas.microsoft.com/office/drawing/2014/main" id="{C0AA61BE-8704-44CA-9363-E4BB894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方案必填要素</a:t>
            </a:r>
          </a:p>
        </p:txBody>
      </p:sp>
      <p:graphicFrame>
        <p:nvGraphicFramePr>
          <p:cNvPr id="7" name="措施三个字段">
            <a:extLst xmlns:a="http://schemas.openxmlformats.org/drawingml/2006/main">
              <a:ext uri="{FF2B5EF4-FFF2-40B4-BE49-F238E27FC236}">
                <a16:creationId xmlns:a16="http://schemas.microsoft.com/office/drawing/2014/main" id="{68244B2F-6A18-4440-81EF-341083C5B572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2514600" cy="3943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562100"/>
              </a:tblGrid>
              <a:tr h="11620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具体举措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根据问题根因制定相应治理措施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62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责任人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责任人提级：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机构端原则上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≥中级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，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总部端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≥初级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完成时限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整改完成期限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原则上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≤3个月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措施方向 0边框">
            <a:extLst xmlns:a="http://schemas.openxmlformats.org/drawingml/2006/main">
              <a:ext uri="{FF2B5EF4-FFF2-40B4-BE49-F238E27FC236}">
                <a16:creationId xmlns:a16="http://schemas.microsoft.com/office/drawing/2014/main" id="{6FAC4B74-8DEA-499E-B023-2759F22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09700"/>
            <a:ext cx="83439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9" name="措施方向 0标题底色">
            <a:extLst xmlns:a="http://schemas.openxmlformats.org/drawingml/2006/main">
              <a:ext uri="{FF2B5EF4-FFF2-40B4-BE49-F238E27FC236}">
                <a16:creationId xmlns:a16="http://schemas.microsoft.com/office/drawing/2014/main" id="{F2DB3645-FF50-4A75-B6F5-5F0057D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419225"/>
            <a:ext cx="83248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措施方向 0标题">
            <a:extLst xmlns:a="http://schemas.openxmlformats.org/drawingml/2006/main">
              <a:ext uri="{FF2B5EF4-FFF2-40B4-BE49-F238E27FC236}">
                <a16:creationId xmlns:a16="http://schemas.microsoft.com/office/drawing/2014/main" id="{4B13A73C-34B1-4646-BF19-0BC88295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43038"/>
            <a:ext cx="807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短期治标</a:t>
            </a:r>
          </a:p>
        </p:txBody>
      </p:sp>
      <p:graphicFrame>
        <p:nvGraphicFramePr>
          <p:cNvPr id="11" name="措施方向字段 0">
            <a:extLst xmlns:a="http://schemas.openxmlformats.org/drawingml/2006/main">
              <a:ext uri="{FF2B5EF4-FFF2-40B4-BE49-F238E27FC236}">
                <a16:creationId xmlns:a16="http://schemas.microsoft.com/office/drawing/2014/main" id="{766E0660-A658-451C-92BE-83B58B5BD53D}"/>
              </a:ext>
            </a:extLst>
          </p:cNvPr>
          <p:cNvGraphicFramePr/>
          <p:nvPr/>
        </p:nvGraphicFramePr>
        <p:xfrm>
          <a:off xmlns:a="http://schemas.openxmlformats.org/drawingml/2006/main" x="3619500" y="1905000"/>
          <a:ext xmlns:a="http://schemas.openxmlformats.org/drawingml/2006/main" cx="8001000" cy="1104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14400"/>
                <a:gridCol w="70866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目的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及时阻断风险，防止扩散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措施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暂停业务、自查、培训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措施方向 1边框">
            <a:extLst xmlns:a="http://schemas.openxmlformats.org/drawingml/2006/main">
              <a:ext uri="{FF2B5EF4-FFF2-40B4-BE49-F238E27FC236}">
                <a16:creationId xmlns:a16="http://schemas.microsoft.com/office/drawing/2014/main" id="{FD3AD8A6-2215-4CA4-B12B-E2A80B53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83439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3" name="措施方向 1标题底色">
            <a:extLst xmlns:a="http://schemas.openxmlformats.org/drawingml/2006/main">
              <a:ext uri="{FF2B5EF4-FFF2-40B4-BE49-F238E27FC236}">
                <a16:creationId xmlns:a16="http://schemas.microsoft.com/office/drawing/2014/main" id="{5F883A81-961C-4B68-ADE9-8D527BB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24225"/>
            <a:ext cx="83248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措施方向 1标题">
            <a:extLst xmlns:a="http://schemas.openxmlformats.org/drawingml/2006/main">
              <a:ext uri="{FF2B5EF4-FFF2-40B4-BE49-F238E27FC236}">
                <a16:creationId xmlns:a16="http://schemas.microsoft.com/office/drawing/2014/main" id="{5B32EC66-4D85-43F0-BB10-AC6DCA5B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48038"/>
            <a:ext cx="807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长期治本</a:t>
            </a:r>
          </a:p>
        </p:txBody>
      </p:sp>
      <p:graphicFrame>
        <p:nvGraphicFramePr>
          <p:cNvPr id="15" name="措施方向字段 1">
            <a:extLst xmlns:a="http://schemas.openxmlformats.org/drawingml/2006/main">
              <a:ext uri="{FF2B5EF4-FFF2-40B4-BE49-F238E27FC236}">
                <a16:creationId xmlns:a16="http://schemas.microsoft.com/office/drawing/2014/main" id="{550F7B43-A665-4D1A-9F2C-3E3501CFC02A}"/>
              </a:ext>
            </a:extLst>
          </p:cNvPr>
          <p:cNvGraphicFramePr/>
          <p:nvPr/>
        </p:nvGraphicFramePr>
        <p:xfrm>
          <a:off xmlns:a="http://schemas.openxmlformats.org/drawingml/2006/main" x="3619500" y="3810000"/>
          <a:ext xmlns:a="http://schemas.openxmlformats.org/drawingml/2006/main" cx="8001000" cy="11049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14400"/>
                <a:gridCol w="70866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目的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根据问题根因制定相应治理措施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措施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系统优化、制度修订、清收挽损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措施审核衔接外框">
            <a:extLst xmlns:a="http://schemas.openxmlformats.org/drawingml/2006/main">
              <a:ext uri="{FF2B5EF4-FFF2-40B4-BE49-F238E27FC236}">
                <a16:creationId xmlns:a16="http://schemas.microsoft.com/office/drawing/2014/main" id="{779FA744-B623-4452-8E74-2523C3D4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38750"/>
            <a:ext cx="83439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7" name="措施审核衔接标题底色">
            <a:extLst xmlns:a="http://schemas.openxmlformats.org/drawingml/2006/main">
              <a:ext uri="{FF2B5EF4-FFF2-40B4-BE49-F238E27FC236}">
                <a16:creationId xmlns:a16="http://schemas.microsoft.com/office/drawing/2014/main" id="{FF956D4A-4BAA-4EF5-8A5B-5C1D8879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38750"/>
            <a:ext cx="834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措施审核衔接标题">
            <a:extLst xmlns:a="http://schemas.openxmlformats.org/drawingml/2006/main">
              <a:ext uri="{FF2B5EF4-FFF2-40B4-BE49-F238E27FC236}">
                <a16:creationId xmlns:a16="http://schemas.microsoft.com/office/drawing/2014/main" id="{B4C05C16-5CEB-4A1A-9A5C-E34AA0E5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67325"/>
            <a:ext cx="811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方案审核与衔接</a:t>
            </a:r>
          </a:p>
        </p:txBody>
      </p:sp>
      <p:sp>
        <p:nvSpPr>
          <p:cNvPr id="19" name="措施审核节点 0">
            <a:extLst xmlns:a="http://schemas.openxmlformats.org/drawingml/2006/main">
              <a:ext uri="{FF2B5EF4-FFF2-40B4-BE49-F238E27FC236}">
                <a16:creationId xmlns:a16="http://schemas.microsoft.com/office/drawing/2014/main" id="{4C4DD987-D4E5-4403-A447-2BC3F2B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57850"/>
            <a:ext cx="25146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7620">
            <a:solidFill>
              <a:srgbClr val="C7C9C9"/>
            </a:solidFill>
            <a:prstDash val="solid"/>
          </a:ln>
        </p:spPr>
      </p:sp>
      <p:sp>
        <p:nvSpPr>
          <p:cNvPr id="20" name="措施审核节点文字 0">
            <a:extLst xmlns:a="http://schemas.openxmlformats.org/drawingml/2006/main">
              <a:ext uri="{FF2B5EF4-FFF2-40B4-BE49-F238E27FC236}">
                <a16:creationId xmlns:a16="http://schemas.microsoft.com/office/drawing/2014/main" id="{79589AA8-E1B1-4C79-AC38-CEB5C71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769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业务提交</a:t>
            </a:r>
          </a:p>
        </p:txBody>
      </p:sp>
      <p:cxnSp>
        <p:nvCxnSpPr>
          <p:cNvPr id="21" name="措施审核节点连接 0">
            <a:extLst xmlns:a="http://schemas.openxmlformats.org/drawingml/2006/main">
              <a:ext uri="{FF2B5EF4-FFF2-40B4-BE49-F238E27FC236}">
                <a16:creationId xmlns:a16="http://schemas.microsoft.com/office/drawing/2014/main" id="{55AE048B-5E88-41CB-B879-A74A534871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62675" y="5791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2" name="措施审核节点 1">
            <a:extLst xmlns:a="http://schemas.openxmlformats.org/drawingml/2006/main">
              <a:ext uri="{FF2B5EF4-FFF2-40B4-BE49-F238E27FC236}">
                <a16:creationId xmlns:a16="http://schemas.microsoft.com/office/drawing/2014/main" id="{6328E1EE-3F31-409A-889F-5BF4B37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57850"/>
            <a:ext cx="25146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7620">
            <a:solidFill>
              <a:srgbClr val="C7C9C9"/>
            </a:solidFill>
            <a:prstDash val="solid"/>
          </a:ln>
        </p:spPr>
      </p:sp>
      <p:sp>
        <p:nvSpPr>
          <p:cNvPr id="23" name="措施审核节点文字 1">
            <a:extLst xmlns:a="http://schemas.openxmlformats.org/drawingml/2006/main">
              <a:ext uri="{FF2B5EF4-FFF2-40B4-BE49-F238E27FC236}">
                <a16:creationId xmlns:a16="http://schemas.microsoft.com/office/drawing/2014/main" id="{9B55CEDB-F05D-4C0E-BF5B-B435DE9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合规审核</a:t>
            </a:r>
          </a:p>
        </p:txBody>
      </p:sp>
      <p:cxnSp>
        <p:nvCxnSpPr>
          <p:cNvPr id="24" name="措施审核节点连接 1">
            <a:extLst xmlns:a="http://schemas.openxmlformats.org/drawingml/2006/main">
              <a:ext uri="{FF2B5EF4-FFF2-40B4-BE49-F238E27FC236}">
                <a16:creationId xmlns:a16="http://schemas.microsoft.com/office/drawing/2014/main" id="{C9F157CA-0579-483E-8EF9-AED1622829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05875" y="5791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5" name="措施审核节点 2">
            <a:extLst xmlns:a="http://schemas.openxmlformats.org/drawingml/2006/main">
              <a:ext uri="{FF2B5EF4-FFF2-40B4-BE49-F238E27FC236}">
                <a16:creationId xmlns:a16="http://schemas.microsoft.com/office/drawing/2014/main" id="{B0DAD714-18FC-4FEE-80A3-4A7FEDF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57850"/>
            <a:ext cx="2514600" cy="2667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7620">
            <a:solidFill>
              <a:srgbClr val="C7C9C9"/>
            </a:solidFill>
            <a:prstDash val="solid"/>
          </a:ln>
        </p:spPr>
      </p:sp>
      <p:sp>
        <p:nvSpPr>
          <p:cNvPr id="26" name="措施审核节点文字 2">
            <a:extLst xmlns:a="http://schemas.openxmlformats.org/drawingml/2006/main">
              <a:ext uri="{FF2B5EF4-FFF2-40B4-BE49-F238E27FC236}">
                <a16:creationId xmlns:a16="http://schemas.microsoft.com/office/drawing/2014/main" id="{A8127DC8-0561-477B-A30A-9D911880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769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稽核收阅</a:t>
            </a:r>
          </a:p>
        </p:txBody>
      </p:sp>
      <p:sp>
        <p:nvSpPr>
          <p:cNvPr id="27" name="措施审核职责原句">
            <a:extLst xmlns:a="http://schemas.openxmlformats.org/drawingml/2006/main">
              <a:ext uri="{FF2B5EF4-FFF2-40B4-BE49-F238E27FC236}">
                <a16:creationId xmlns:a16="http://schemas.microsoft.com/office/drawing/2014/main" id="{15B32539-3B62-4208-A63B-9AF7F5A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912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合规审核方案合理性与合规性；稽核收阅关注措施全面性。</a:t>
            </a:r>
          </a:p>
        </p:txBody>
      </p:sp>
      <p:sp>
        <p:nvSpPr>
          <p:cNvPr id="28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AC0AB5CA-1631-4B5D-AB92-9527D3B7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D528CB4B-48EA-4B76-830A-EB64F048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30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C1F78B4C-0828-4EE0-ACDD-C036CD2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31" name="页码">
            <a:extLst xmlns:a="http://schemas.openxmlformats.org/drawingml/2006/main">
              <a:ext uri="{FF2B5EF4-FFF2-40B4-BE49-F238E27FC236}">
                <a16:creationId xmlns:a16="http://schemas.microsoft.com/office/drawing/2014/main" id="{A38581F2-586F-4D50-AEDF-2076E40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10 / 15</a:t>
            </a:r>
          </a:p>
        </p:txBody>
      </p:sp>
      <p:sp>
        <p:nvSpPr>
          <p:cNvPr id="33" name="措施三个字段圆角遮罩TL">
            <a:extLst xmlns:a="http://schemas.openxmlformats.org/drawingml/2006/main">
              <a:ext uri="{FF2B5EF4-FFF2-40B4-BE49-F238E27FC236}">
                <a16:creationId xmlns:a16="http://schemas.microsoft.com/office/drawing/2014/main" id="{D45A5A49-D046-4B59-AB4D-9B9EAC1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措施三个字段圆角遮罩TR">
            <a:extLst xmlns:a="http://schemas.openxmlformats.org/drawingml/2006/main">
              <a:ext uri="{FF2B5EF4-FFF2-40B4-BE49-F238E27FC236}">
                <a16:creationId xmlns:a16="http://schemas.microsoft.com/office/drawing/2014/main" id="{74C7F03D-A4DA-4382-AFC0-3B2EFFB7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71800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措施三个字段圆角遮罩BL">
            <a:extLst xmlns:a="http://schemas.openxmlformats.org/drawingml/2006/main">
              <a:ext uri="{FF2B5EF4-FFF2-40B4-BE49-F238E27FC236}">
                <a16:creationId xmlns:a16="http://schemas.microsoft.com/office/drawing/2014/main" id="{C5EBD3A5-323F-46C6-918E-D5C8BD6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975" y="57721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措施三个字段圆角遮罩BR">
            <a:extLst xmlns:a="http://schemas.openxmlformats.org/drawingml/2006/main">
              <a:ext uri="{FF2B5EF4-FFF2-40B4-BE49-F238E27FC236}">
                <a16:creationId xmlns:a16="http://schemas.microsoft.com/office/drawing/2014/main" id="{BFDBB56F-23A6-49B3-9C55-1B977947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971800" y="57721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措施三个字段圆角外线">
            <a:extLst xmlns:a="http://schemas.openxmlformats.org/drawingml/2006/main">
              <a:ext uri="{FF2B5EF4-FFF2-40B4-BE49-F238E27FC236}">
                <a16:creationId xmlns:a16="http://schemas.microsoft.com/office/drawing/2014/main" id="{DE2E4298-EDC3-4916-A5CA-7BFEBF9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2514600" cy="394335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8" name="措施方向字段 0圆角遮罩TL">
            <a:extLst xmlns:a="http://schemas.openxmlformats.org/drawingml/2006/main">
              <a:ext uri="{FF2B5EF4-FFF2-40B4-BE49-F238E27FC236}">
                <a16:creationId xmlns:a16="http://schemas.microsoft.com/office/drawing/2014/main" id="{3D65964E-5002-488C-857D-74325626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9975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措施方向字段 0圆角遮罩TR">
            <a:extLst xmlns:a="http://schemas.openxmlformats.org/drawingml/2006/main">
              <a:ext uri="{FF2B5EF4-FFF2-40B4-BE49-F238E27FC236}">
                <a16:creationId xmlns:a16="http://schemas.microsoft.com/office/drawing/2014/main" id="{500B9353-4E29-4242-8F8F-5A0E0ADA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506200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措施方向字段 0圆角遮罩BL">
            <a:extLst xmlns:a="http://schemas.openxmlformats.org/drawingml/2006/main">
              <a:ext uri="{FF2B5EF4-FFF2-40B4-BE49-F238E27FC236}">
                <a16:creationId xmlns:a16="http://schemas.microsoft.com/office/drawing/2014/main" id="{AD2CC2F5-4683-46B9-8ACF-D9D1BC26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09975" y="2895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措施方向字段 0圆角遮罩BR">
            <a:extLst xmlns:a="http://schemas.openxmlformats.org/drawingml/2006/main">
              <a:ext uri="{FF2B5EF4-FFF2-40B4-BE49-F238E27FC236}">
                <a16:creationId xmlns:a16="http://schemas.microsoft.com/office/drawing/2014/main" id="{7BAE3860-5B40-416A-855D-8A492E32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06200" y="2895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措施方向字段 0圆角外线">
            <a:extLst xmlns:a="http://schemas.openxmlformats.org/drawingml/2006/main">
              <a:ext uri="{FF2B5EF4-FFF2-40B4-BE49-F238E27FC236}">
                <a16:creationId xmlns:a16="http://schemas.microsoft.com/office/drawing/2014/main" id="{D5F46F56-A232-4CFE-8E8F-DF6CBFBA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8001000" cy="110490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43" name="措施方向字段 1圆角遮罩TL">
            <a:extLst xmlns:a="http://schemas.openxmlformats.org/drawingml/2006/main">
              <a:ext uri="{FF2B5EF4-FFF2-40B4-BE49-F238E27FC236}">
                <a16:creationId xmlns:a16="http://schemas.microsoft.com/office/drawing/2014/main" id="{41582639-F1C1-475F-9E5B-2EB9FAD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9975" y="3800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措施方向字段 1圆角遮罩TR">
            <a:extLst xmlns:a="http://schemas.openxmlformats.org/drawingml/2006/main">
              <a:ext uri="{FF2B5EF4-FFF2-40B4-BE49-F238E27FC236}">
                <a16:creationId xmlns:a16="http://schemas.microsoft.com/office/drawing/2014/main" id="{E0E00F7C-0257-46CC-94E0-29D1D30C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506200" y="3800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措施方向字段 1圆角遮罩BL">
            <a:extLst xmlns:a="http://schemas.openxmlformats.org/drawingml/2006/main">
              <a:ext uri="{FF2B5EF4-FFF2-40B4-BE49-F238E27FC236}">
                <a16:creationId xmlns:a16="http://schemas.microsoft.com/office/drawing/2014/main" id="{8346545B-2F4B-4E89-8F5C-DA32F592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09975" y="4800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措施方向字段 1圆角遮罩BR">
            <a:extLst xmlns:a="http://schemas.openxmlformats.org/drawingml/2006/main">
              <a:ext uri="{FF2B5EF4-FFF2-40B4-BE49-F238E27FC236}">
                <a16:creationId xmlns:a16="http://schemas.microsoft.com/office/drawing/2014/main" id="{C19D3138-59B5-43B7-9EE2-6A885B98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06200" y="4800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措施方向字段 1圆角外线">
            <a:extLst xmlns:a="http://schemas.openxmlformats.org/drawingml/2006/main">
              <a:ext uri="{FF2B5EF4-FFF2-40B4-BE49-F238E27FC236}">
                <a16:creationId xmlns:a16="http://schemas.microsoft.com/office/drawing/2014/main" id="{6407F099-9BC1-44AD-94AC-AB34ACA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8001000" cy="110490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18272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主标题">
            <a:extLst xmlns:a="http://schemas.openxmlformats.org/drawingml/2006/main">
              <a:ext uri="{FF2B5EF4-FFF2-40B4-BE49-F238E27FC236}">
                <a16:creationId xmlns:a16="http://schemas.microsoft.com/office/drawing/2014/main" id="{198D4C0D-1661-44B5-980F-B4FCEB63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3.措施制定：差异化审批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59280927-6F1C-4899-A114-1D5A952A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89839FD9-B942-49CE-B67B-DCB3D6A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定等级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是关键，按风险匹配审批层级与办理要求</a:t>
            </a:r>
          </a:p>
        </p:txBody>
      </p:sp>
      <p:sp>
        <p:nvSpPr>
          <p:cNvPr id="4" name="职能审核节点 0">
            <a:extLst xmlns:a="http://schemas.openxmlformats.org/drawingml/2006/main">
              <a:ext uri="{FF2B5EF4-FFF2-40B4-BE49-F238E27FC236}">
                <a16:creationId xmlns:a16="http://schemas.microsoft.com/office/drawing/2014/main" id="{0318CB73-2589-4CAB-85FE-0C5949F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683000" cy="74295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5" name="职能审核责任 0">
            <a:extLst xmlns:a="http://schemas.openxmlformats.org/drawingml/2006/main">
              <a:ext uri="{FF2B5EF4-FFF2-40B4-BE49-F238E27FC236}">
                <a16:creationId xmlns:a16="http://schemas.microsoft.com/office/drawing/2014/main" id="{5F587830-E7EC-463D-A182-DD9BFB7B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41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业务提交</a:t>
            </a:r>
          </a:p>
        </p:txBody>
      </p:sp>
      <p:cxnSp>
        <p:nvCxnSpPr>
          <p:cNvPr id="6" name="职能审核顺序 0">
            <a:extLst xmlns:a="http://schemas.openxmlformats.org/drawingml/2006/main">
              <a:ext uri="{FF2B5EF4-FFF2-40B4-BE49-F238E27FC236}">
                <a16:creationId xmlns:a16="http://schemas.microsoft.com/office/drawing/2014/main" id="{292663D3-1423-4FF4-B269-A448F97D41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02100" y="1781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7" name="职能审核节点 1">
            <a:extLst xmlns:a="http://schemas.openxmlformats.org/drawingml/2006/main">
              <a:ext uri="{FF2B5EF4-FFF2-40B4-BE49-F238E27FC236}">
                <a16:creationId xmlns:a16="http://schemas.microsoft.com/office/drawing/2014/main" id="{4796BDDF-3F74-4FF6-AD35-A711DFE1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409700"/>
            <a:ext cx="3683000" cy="74295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8" name="职能审核责任 1">
            <a:extLst xmlns:a="http://schemas.openxmlformats.org/drawingml/2006/main">
              <a:ext uri="{FF2B5EF4-FFF2-40B4-BE49-F238E27FC236}">
                <a16:creationId xmlns:a16="http://schemas.microsoft.com/office/drawing/2014/main" id="{26088C15-9A73-4FCB-961D-FECEF412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71625"/>
            <a:ext cx="341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合规审核合理性与合规性</a:t>
            </a:r>
          </a:p>
        </p:txBody>
      </p:sp>
      <p:cxnSp>
        <p:nvCxnSpPr>
          <p:cNvPr id="9" name="职能审核顺序 1">
            <a:extLst xmlns:a="http://schemas.openxmlformats.org/drawingml/2006/main">
              <a:ext uri="{FF2B5EF4-FFF2-40B4-BE49-F238E27FC236}">
                <a16:creationId xmlns:a16="http://schemas.microsoft.com/office/drawing/2014/main" id="{E242C89A-77A4-420A-ABF3-91E44FF4FD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56550" y="1781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0" name="职能审核节点 2">
            <a:extLst xmlns:a="http://schemas.openxmlformats.org/drawingml/2006/main">
              <a:ext uri="{FF2B5EF4-FFF2-40B4-BE49-F238E27FC236}">
                <a16:creationId xmlns:a16="http://schemas.microsoft.com/office/drawing/2014/main" id="{AC8240EC-20A9-468A-B523-4C55D82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409700"/>
            <a:ext cx="3683000" cy="74295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1" name="职能审核责任 2">
            <a:extLst xmlns:a="http://schemas.openxmlformats.org/drawingml/2006/main">
              <a:ext uri="{FF2B5EF4-FFF2-40B4-BE49-F238E27FC236}">
                <a16:creationId xmlns:a16="http://schemas.microsoft.com/office/drawing/2014/main" id="{C77F6304-DABA-464C-B355-2D3F339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571625"/>
            <a:ext cx="341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稽核收阅，关注全面性</a:t>
            </a:r>
          </a:p>
        </p:txBody>
      </p:sp>
      <p:graphicFrame>
        <p:nvGraphicFramePr>
          <p:cNvPr id="12" name="分风险审批原生表">
            <a:extLst xmlns:a="http://schemas.openxmlformats.org/drawingml/2006/main">
              <a:ext uri="{FF2B5EF4-FFF2-40B4-BE49-F238E27FC236}">
                <a16:creationId xmlns:a16="http://schemas.microsoft.com/office/drawing/2014/main" id="{6C7A3267-8145-44C0-A52F-1023725A1261}"/>
              </a:ext>
            </a:extLst>
          </p:cNvPr>
          <p:cNvGraphicFramePr/>
          <p:nvPr/>
        </p:nvGraphicFramePr>
        <p:xfrm>
          <a:off xmlns:a="http://schemas.openxmlformats.org/drawingml/2006/main" x="400050" y="2343150"/>
          <a:ext xmlns:a="http://schemas.openxmlformats.org/drawingml/2006/main" cx="11391900" cy="24955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85850"/>
                <a:gridCol w="2343150"/>
                <a:gridCol w="2343150"/>
                <a:gridCol w="2381250"/>
                <a:gridCol w="3238500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风险等级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方案提交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上级审批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合规审批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提级审批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高风险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整改责任人提交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责任人上级审批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合规对接人审批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整改责任部门长／分管总审批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中风险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整改责任人提交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责任人上级审批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合规对接人审批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—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低风险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整改责任人提交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责任人上级审批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—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—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审批连线留白 0-0">
            <a:extLst xmlns:a="http://schemas.openxmlformats.org/drawingml/2006/main">
              <a:ext uri="{FF2B5EF4-FFF2-40B4-BE49-F238E27FC236}">
                <a16:creationId xmlns:a16="http://schemas.microsoft.com/office/drawing/2014/main" id="{33230CAE-3E4D-4E30-B60E-3B71CF17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289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4" name="审批有效节点连接 0-0">
            <a:extLst xmlns:a="http://schemas.openxmlformats.org/drawingml/2006/main">
              <a:ext uri="{FF2B5EF4-FFF2-40B4-BE49-F238E27FC236}">
                <a16:creationId xmlns:a16="http://schemas.microsoft.com/office/drawing/2014/main" id="{E80933EC-79B5-48D9-BB31-01198E1474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43325" y="3124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5" name="审批连线留白 0-1">
            <a:extLst xmlns:a="http://schemas.openxmlformats.org/drawingml/2006/main">
              <a:ext uri="{FF2B5EF4-FFF2-40B4-BE49-F238E27FC236}">
                <a16:creationId xmlns:a16="http://schemas.microsoft.com/office/drawing/2014/main" id="{0FA82F84-8A38-491F-9EA5-91AD770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289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6" name="审批有效节点连接 0-1">
            <a:extLst xmlns:a="http://schemas.openxmlformats.org/drawingml/2006/main">
              <a:ext uri="{FF2B5EF4-FFF2-40B4-BE49-F238E27FC236}">
                <a16:creationId xmlns:a16="http://schemas.microsoft.com/office/drawing/2014/main" id="{78648AC2-A039-4986-B95E-EC8F1398AD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86475" y="3124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7" name="审批连线留白 0-2">
            <a:extLst xmlns:a="http://schemas.openxmlformats.org/drawingml/2006/main">
              <a:ext uri="{FF2B5EF4-FFF2-40B4-BE49-F238E27FC236}">
                <a16:creationId xmlns:a16="http://schemas.microsoft.com/office/drawing/2014/main" id="{CF476E05-FFDD-424C-B007-3AFD98C4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289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8" name="审批有效节点连接 0-2">
            <a:extLst xmlns:a="http://schemas.openxmlformats.org/drawingml/2006/main">
              <a:ext uri="{FF2B5EF4-FFF2-40B4-BE49-F238E27FC236}">
                <a16:creationId xmlns:a16="http://schemas.microsoft.com/office/drawing/2014/main" id="{62432766-55C9-4CDA-A3BD-1508E9ED13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67725" y="3124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9" name="审批连线留白 1-0">
            <a:extLst xmlns:a="http://schemas.openxmlformats.org/drawingml/2006/main">
              <a:ext uri="{FF2B5EF4-FFF2-40B4-BE49-F238E27FC236}">
                <a16:creationId xmlns:a16="http://schemas.microsoft.com/office/drawing/2014/main" id="{D7B70EAF-77AA-47F7-854F-5B28330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147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0" name="审批有效节点连接 1-0">
            <a:extLst xmlns:a="http://schemas.openxmlformats.org/drawingml/2006/main">
              <a:ext uri="{FF2B5EF4-FFF2-40B4-BE49-F238E27FC236}">
                <a16:creationId xmlns:a16="http://schemas.microsoft.com/office/drawing/2014/main" id="{79DDDA6B-5493-41D2-BDED-C42A5FCC51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43325" y="38100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1" name="审批连线留白 1-1">
            <a:extLst xmlns:a="http://schemas.openxmlformats.org/drawingml/2006/main">
              <a:ext uri="{FF2B5EF4-FFF2-40B4-BE49-F238E27FC236}">
                <a16:creationId xmlns:a16="http://schemas.microsoft.com/office/drawing/2014/main" id="{9579628C-80D2-46B4-A37A-01091B2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147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2" name="审批有效节点连接 1-1">
            <a:extLst xmlns:a="http://schemas.openxmlformats.org/drawingml/2006/main">
              <a:ext uri="{FF2B5EF4-FFF2-40B4-BE49-F238E27FC236}">
                <a16:creationId xmlns:a16="http://schemas.microsoft.com/office/drawing/2014/main" id="{CD47A3BB-1A30-489B-B800-B5F51F8D88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86475" y="38100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3" name="审批连线留白 2-0">
            <a:extLst xmlns:a="http://schemas.openxmlformats.org/drawingml/2006/main">
              <a:ext uri="{FF2B5EF4-FFF2-40B4-BE49-F238E27FC236}">
                <a16:creationId xmlns:a16="http://schemas.microsoft.com/office/drawing/2014/main" id="{676D5214-0429-4340-9EF8-A9D5C349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005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4" name="审批有效节点连接 2-0">
            <a:extLst xmlns:a="http://schemas.openxmlformats.org/drawingml/2006/main">
              <a:ext uri="{FF2B5EF4-FFF2-40B4-BE49-F238E27FC236}">
                <a16:creationId xmlns:a16="http://schemas.microsoft.com/office/drawing/2014/main" id="{7E7D2BD8-59C0-404B-8A53-382DDFB522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43325" y="4495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5" name="审批责任时限变更要求边框">
            <a:extLst xmlns:a="http://schemas.openxmlformats.org/drawingml/2006/main">
              <a:ext uri="{FF2B5EF4-FFF2-40B4-BE49-F238E27FC236}">
                <a16:creationId xmlns:a16="http://schemas.microsoft.com/office/drawing/2014/main" id="{7995A46D-78AA-4C70-8AEA-32CF74C1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13919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26" name="审批责任时限变更要求标题底色">
            <a:extLst xmlns:a="http://schemas.openxmlformats.org/drawingml/2006/main">
              <a:ext uri="{FF2B5EF4-FFF2-40B4-BE49-F238E27FC236}">
                <a16:creationId xmlns:a16="http://schemas.microsoft.com/office/drawing/2014/main" id="{004BD7CD-561C-4373-9A88-71D6A169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00625"/>
            <a:ext cx="113728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审批责任时限变更要求标题">
            <a:extLst xmlns:a="http://schemas.openxmlformats.org/drawingml/2006/main">
              <a:ext uri="{FF2B5EF4-FFF2-40B4-BE49-F238E27FC236}">
                <a16:creationId xmlns:a16="http://schemas.microsoft.com/office/drawing/2014/main" id="{7BB4CD3F-FD86-4C4D-9D7F-A45A91A7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4438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责任、时限与变更</a:t>
            </a:r>
          </a:p>
        </p:txBody>
      </p:sp>
      <p:graphicFrame>
        <p:nvGraphicFramePr>
          <p:cNvPr id="28" name="审批办理要求原生表">
            <a:extLst xmlns:a="http://schemas.openxmlformats.org/drawingml/2006/main">
              <a:ext uri="{FF2B5EF4-FFF2-40B4-BE49-F238E27FC236}">
                <a16:creationId xmlns:a16="http://schemas.microsoft.com/office/drawing/2014/main" id="{41CE23B7-842D-4071-A65B-0E5B803D67E2}"/>
              </a:ext>
            </a:extLst>
          </p:cNvPr>
          <p:cNvGraphicFramePr/>
          <p:nvPr/>
        </p:nvGraphicFramePr>
        <p:xfrm>
          <a:off xmlns:a="http://schemas.openxmlformats.org/drawingml/2006/main" x="571500" y="5486400"/>
          <a:ext xmlns:a="http://schemas.openxmlformats.org/drawingml/2006/main" cx="11049000" cy="6096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686175"/>
                <a:gridCol w="3686175"/>
                <a:gridCol w="3676650"/>
              </a:tblGrid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责任人提级：机构端原则上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≥中级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，总部端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≥初级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5个工作日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反馈措施；整改完成期限原则上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≤3个月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确需调整整改策略，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重新履行审批</a:t>
                      </a:r>
                    </a:p>
                  </a:txBody>
                  <a:tcPr marL="57150" marR="57150" marT="57150" marB="5715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4F59A0CF-521A-49C4-B396-4EDEE60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EB7F9BAC-D16F-4C2D-B271-44B71ECA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31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2BC6AFB8-058B-44F9-B163-E10F7A2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32" name="页码">
            <a:extLst xmlns:a="http://schemas.openxmlformats.org/drawingml/2006/main">
              <a:ext uri="{FF2B5EF4-FFF2-40B4-BE49-F238E27FC236}">
                <a16:creationId xmlns:a16="http://schemas.microsoft.com/office/drawing/2014/main" id="{F62C2339-5591-43DC-852D-7AA7794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11 / 15</a:t>
            </a:r>
          </a:p>
        </p:txBody>
      </p:sp>
      <p:sp>
        <p:nvSpPr>
          <p:cNvPr id="34" name="分风险审批原生表圆角遮罩TL">
            <a:extLst xmlns:a="http://schemas.openxmlformats.org/drawingml/2006/main">
              <a:ext uri="{FF2B5EF4-FFF2-40B4-BE49-F238E27FC236}">
                <a16:creationId xmlns:a16="http://schemas.microsoft.com/office/drawing/2014/main" id="{F23A4302-56FD-49C8-8DF7-C60C019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23336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分风险审批原生表圆角遮罩TR">
            <a:extLst xmlns:a="http://schemas.openxmlformats.org/drawingml/2006/main">
              <a:ext uri="{FF2B5EF4-FFF2-40B4-BE49-F238E27FC236}">
                <a16:creationId xmlns:a16="http://schemas.microsoft.com/office/drawing/2014/main" id="{00F97110-D3A6-470F-B19A-1970CA93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77650" y="23336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分风险审批原生表圆角遮罩BL">
            <a:extLst xmlns:a="http://schemas.openxmlformats.org/drawingml/2006/main">
              <a:ext uri="{FF2B5EF4-FFF2-40B4-BE49-F238E27FC236}">
                <a16:creationId xmlns:a16="http://schemas.microsoft.com/office/drawing/2014/main" id="{0B4C64C2-E098-440B-AC8B-B882CBD5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47244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分风险审批原生表圆角遮罩BR">
            <a:extLst xmlns:a="http://schemas.openxmlformats.org/drawingml/2006/main">
              <a:ext uri="{FF2B5EF4-FFF2-40B4-BE49-F238E27FC236}">
                <a16:creationId xmlns:a16="http://schemas.microsoft.com/office/drawing/2014/main" id="{20B21710-09C4-45D9-AF5B-4BFC3634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77650" y="47244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分风险审批原生表圆角外线">
            <a:extLst xmlns:a="http://schemas.openxmlformats.org/drawingml/2006/main">
              <a:ext uri="{FF2B5EF4-FFF2-40B4-BE49-F238E27FC236}">
                <a16:creationId xmlns:a16="http://schemas.microsoft.com/office/drawing/2014/main" id="{750D5646-D5C5-4E41-9E0C-41ADAF91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391900" cy="2495550"/>
          </a:xfrm>
          <a:prstGeom xmlns:a="http://schemas.openxmlformats.org/drawingml/2006/main" prst="roundRect">
            <a:avLst>
              <a:gd name="adj" fmla="val 45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9" name="审批办理要求原生表圆角遮罩TL">
            <a:extLst xmlns:a="http://schemas.openxmlformats.org/drawingml/2006/main">
              <a:ext uri="{FF2B5EF4-FFF2-40B4-BE49-F238E27FC236}">
                <a16:creationId xmlns:a16="http://schemas.microsoft.com/office/drawing/2014/main" id="{6D58474A-69BD-4215-888E-73F194F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" y="54768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审批办理要求原生表圆角遮罩TR">
            <a:extLst xmlns:a="http://schemas.openxmlformats.org/drawingml/2006/main">
              <a:ext uri="{FF2B5EF4-FFF2-40B4-BE49-F238E27FC236}">
                <a16:creationId xmlns:a16="http://schemas.microsoft.com/office/drawing/2014/main" id="{E769AEF7-D8CE-4F07-8A43-340A14B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506200" y="54768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审批办理要求原生表圆角遮罩BL">
            <a:extLst xmlns:a="http://schemas.openxmlformats.org/drawingml/2006/main">
              <a:ext uri="{FF2B5EF4-FFF2-40B4-BE49-F238E27FC236}">
                <a16:creationId xmlns:a16="http://schemas.microsoft.com/office/drawing/2014/main" id="{300A1AED-41BB-4935-8CCF-24D1D0D5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975" y="59817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审批办理要求原生表圆角遮罩BR">
            <a:extLst xmlns:a="http://schemas.openxmlformats.org/drawingml/2006/main">
              <a:ext uri="{FF2B5EF4-FFF2-40B4-BE49-F238E27FC236}">
                <a16:creationId xmlns:a16="http://schemas.microsoft.com/office/drawing/2014/main" id="{93D78F4A-F749-4CAA-AAB4-5462FAA6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06200" y="59817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审批办理要求原生表圆角外线">
            <a:extLst xmlns:a="http://schemas.openxmlformats.org/drawingml/2006/main">
              <a:ext uri="{FF2B5EF4-FFF2-40B4-BE49-F238E27FC236}">
                <a16:creationId xmlns:a16="http://schemas.microsoft.com/office/drawing/2014/main" id="{1AAACD7B-F3D2-4D24-838B-8ADBAD25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6922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主标题">
            <a:extLst xmlns:a="http://schemas.openxmlformats.org/drawingml/2006/main">
              <a:ext uri="{FF2B5EF4-FFF2-40B4-BE49-F238E27FC236}">
                <a16:creationId xmlns:a16="http://schemas.microsoft.com/office/drawing/2014/main" id="{E5697396-A13C-405F-A905-CFBF90A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4.过程追踪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BFD620FF-78E7-4810-863E-6F234929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DEC945FC-F354-47EB-A54D-B74ED0E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延续月度追踪，调整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签报流程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，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后续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条线同步收到提醒邮件</a:t>
            </a:r>
          </a:p>
        </p:txBody>
      </p:sp>
      <p:sp>
        <p:nvSpPr>
          <p:cNvPr id="4" name="追踪机制状态 0边框">
            <a:extLst xmlns:a="http://schemas.openxmlformats.org/drawingml/2006/main">
              <a:ext uri="{FF2B5EF4-FFF2-40B4-BE49-F238E27FC236}">
                <a16:creationId xmlns:a16="http://schemas.microsoft.com/office/drawing/2014/main" id="{36175BDF-23F7-40C8-A3ED-CCB7313F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6830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追踪机制状态 0标题底色">
            <a:extLst xmlns:a="http://schemas.openxmlformats.org/drawingml/2006/main">
              <a:ext uri="{FF2B5EF4-FFF2-40B4-BE49-F238E27FC236}">
                <a16:creationId xmlns:a16="http://schemas.microsoft.com/office/drawing/2014/main" id="{DD3C1935-24B9-48E1-AED6-FEBAE92B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36639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追踪机制状态 0标题">
            <a:extLst xmlns:a="http://schemas.openxmlformats.org/drawingml/2006/main">
              <a:ext uri="{FF2B5EF4-FFF2-40B4-BE49-F238E27FC236}">
                <a16:creationId xmlns:a16="http://schemas.microsoft.com/office/drawing/2014/main" id="{A2885AD8-34CD-4FED-8CE2-897F168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已有机制</a:t>
            </a:r>
          </a:p>
        </p:txBody>
      </p:sp>
      <p:sp>
        <p:nvSpPr>
          <p:cNvPr id="7" name="追踪状态内容 0">
            <a:extLst xmlns:a="http://schemas.openxmlformats.org/drawingml/2006/main">
              <a:ext uri="{FF2B5EF4-FFF2-40B4-BE49-F238E27FC236}">
                <a16:creationId xmlns:a16="http://schemas.microsoft.com/office/drawing/2014/main" id="{2B80C219-D8F5-4EC2-86C6-ABECB39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34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月度追踪、提醒与逾期通报</a:t>
            </a:r>
          </a:p>
        </p:txBody>
      </p:sp>
      <p:sp>
        <p:nvSpPr>
          <p:cNvPr id="8" name="追踪机制状态 1边框">
            <a:extLst xmlns:a="http://schemas.openxmlformats.org/drawingml/2006/main">
              <a:ext uri="{FF2B5EF4-FFF2-40B4-BE49-F238E27FC236}">
                <a16:creationId xmlns:a16="http://schemas.microsoft.com/office/drawing/2014/main" id="{2E97AAD1-42A0-4DC7-AC85-F6DAAA70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409700"/>
            <a:ext cx="36830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9" name="追踪机制状态 1标题底色">
            <a:extLst xmlns:a="http://schemas.openxmlformats.org/drawingml/2006/main">
              <a:ext uri="{FF2B5EF4-FFF2-40B4-BE49-F238E27FC236}">
                <a16:creationId xmlns:a16="http://schemas.microsoft.com/office/drawing/2014/main" id="{57ADD689-3E72-4B67-BC4C-C7FF7E51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025" y="1419225"/>
            <a:ext cx="36639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追踪机制状态 1标题">
            <a:extLst xmlns:a="http://schemas.openxmlformats.org/drawingml/2006/main">
              <a:ext uri="{FF2B5EF4-FFF2-40B4-BE49-F238E27FC236}">
                <a16:creationId xmlns:a16="http://schemas.microsoft.com/office/drawing/2014/main" id="{5A90049B-8546-4C60-B52E-BA807B98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443038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当前调整</a:t>
            </a:r>
          </a:p>
        </p:txBody>
      </p:sp>
      <p:sp>
        <p:nvSpPr>
          <p:cNvPr id="11" name="追踪状态内容 1">
            <a:extLst xmlns:a="http://schemas.openxmlformats.org/drawingml/2006/main">
              <a:ext uri="{FF2B5EF4-FFF2-40B4-BE49-F238E27FC236}">
                <a16:creationId xmlns:a16="http://schemas.microsoft.com/office/drawing/2014/main" id="{DDACB568-4232-41D3-8149-092A50AD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952625"/>
            <a:ext cx="334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调整</a:t>
            </a:r>
            <a:r>
              <a:rPr sz="15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签报流程</a:t>
            </a:r>
            <a:r>
              <a: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，衔接整改进展管理</a:t>
            </a:r>
          </a:p>
        </p:txBody>
      </p:sp>
      <p:sp>
        <p:nvSpPr>
          <p:cNvPr id="12" name="追踪机制状态 2边框">
            <a:extLst xmlns:a="http://schemas.openxmlformats.org/drawingml/2006/main">
              <a:ext uri="{FF2B5EF4-FFF2-40B4-BE49-F238E27FC236}">
                <a16:creationId xmlns:a16="http://schemas.microsoft.com/office/drawing/2014/main" id="{9CA5EC36-CCA6-46D4-921B-1AA8425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409700"/>
            <a:ext cx="36830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3" name="追踪机制状态 2标题底色">
            <a:extLst xmlns:a="http://schemas.openxmlformats.org/drawingml/2006/main">
              <a:ext uri="{FF2B5EF4-FFF2-40B4-BE49-F238E27FC236}">
                <a16:creationId xmlns:a16="http://schemas.microsoft.com/office/drawing/2014/main" id="{D50BFC3B-971A-4C8F-8F9F-7AD6F16B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475" y="1419225"/>
            <a:ext cx="36639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追踪机制状态 2标题">
            <a:extLst xmlns:a="http://schemas.openxmlformats.org/drawingml/2006/main">
              <a:ext uri="{FF2B5EF4-FFF2-40B4-BE49-F238E27FC236}">
                <a16:creationId xmlns:a16="http://schemas.microsoft.com/office/drawing/2014/main" id="{F97858AB-700C-434D-BE93-BEE0C37D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457325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后续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安排</a:t>
            </a:r>
          </a:p>
        </p:txBody>
      </p:sp>
      <p:sp>
        <p:nvSpPr>
          <p:cNvPr id="15" name="追踪状态内容 2">
            <a:extLst xmlns:a="http://schemas.openxmlformats.org/drawingml/2006/main">
              <a:ext uri="{FF2B5EF4-FFF2-40B4-BE49-F238E27FC236}">
                <a16:creationId xmlns:a16="http://schemas.microsoft.com/office/drawing/2014/main" id="{0CDBECC1-3A2A-426C-8776-2024603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952625"/>
            <a:ext cx="334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稽核条线同步收到提醒邮件</a:t>
            </a:r>
          </a:p>
        </p:txBody>
      </p:sp>
      <p:graphicFrame>
        <p:nvGraphicFramePr>
          <p:cNvPr id="16" name="过程追踪办理字段">
            <a:extLst xmlns:a="http://schemas.openxmlformats.org/drawingml/2006/main">
              <a:ext uri="{FF2B5EF4-FFF2-40B4-BE49-F238E27FC236}">
                <a16:creationId xmlns:a16="http://schemas.microsoft.com/office/drawing/2014/main" id="{EEB2EF04-5633-41A5-8762-F167642DB60C}"/>
              </a:ext>
            </a:extLst>
          </p:cNvPr>
          <p:cNvGraphicFramePr/>
          <p:nvPr/>
        </p:nvGraphicFramePr>
        <p:xfrm>
          <a:off xmlns:a="http://schemas.openxmlformats.org/drawingml/2006/main" x="400050" y="2667000"/>
          <a:ext xmlns:a="http://schemas.openxmlformats.org/drawingml/2006/main" cx="11391900" cy="35814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485900"/>
                <a:gridCol w="9906000"/>
              </a:tblGrid>
              <a:tr h="3619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办理事项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FFFFFF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执行要求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ED6E40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系统提醒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系统每月自动发送提醒邮件给整改责任人及合规对接人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追踪与同步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合规与稽核条线分别追踪，及时协调痛点卡点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抄送合规联络人及责任人部门长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逾期处理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逾期发通报邮件，抄送部门负责人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策略调整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确需调整策略，</a:t>
                      </a:r>
                      <a:r>
                        <a:rPr sz="15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重新履行审批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适用范围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三函＋稽核高、中风险事项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办理主体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5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稽核条线室发起，整改责任人执行。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729FEC17-AB5D-454F-B624-35E0B853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90CB6B0B-B32F-4954-ADFC-9530A8F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19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2E554810-22D9-46E4-B37A-51A13B4D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20" name="页码">
            <a:extLst xmlns:a="http://schemas.openxmlformats.org/drawingml/2006/main">
              <a:ext uri="{FF2B5EF4-FFF2-40B4-BE49-F238E27FC236}">
                <a16:creationId xmlns:a16="http://schemas.microsoft.com/office/drawing/2014/main" id="{46EB4643-D96A-44EF-B3E4-1947FEF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12 / 15</a:t>
            </a:r>
          </a:p>
        </p:txBody>
      </p:sp>
      <p:sp>
        <p:nvSpPr>
          <p:cNvPr id="22" name="过程追踪办理字段圆角遮罩TL">
            <a:extLst xmlns:a="http://schemas.openxmlformats.org/drawingml/2006/main">
              <a:ext uri="{FF2B5EF4-FFF2-40B4-BE49-F238E27FC236}">
                <a16:creationId xmlns:a16="http://schemas.microsoft.com/office/drawing/2014/main" id="{51ADEC60-79DD-43C4-AEF0-FA0EFBFD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2657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过程追踪办理字段圆角遮罩TR">
            <a:extLst xmlns:a="http://schemas.openxmlformats.org/drawingml/2006/main">
              <a:ext uri="{FF2B5EF4-FFF2-40B4-BE49-F238E27FC236}">
                <a16:creationId xmlns:a16="http://schemas.microsoft.com/office/drawing/2014/main" id="{FCBD661F-2D88-4DD8-9CFF-8F75F352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77650" y="2657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过程追踪办理字段圆角遮罩BL">
            <a:extLst xmlns:a="http://schemas.openxmlformats.org/drawingml/2006/main">
              <a:ext uri="{FF2B5EF4-FFF2-40B4-BE49-F238E27FC236}">
                <a16:creationId xmlns:a16="http://schemas.microsoft.com/office/drawing/2014/main" id="{1D307CB8-2F66-4911-9438-327D890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61341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过程追踪办理字段圆角遮罩BR">
            <a:extLst xmlns:a="http://schemas.openxmlformats.org/drawingml/2006/main">
              <a:ext uri="{FF2B5EF4-FFF2-40B4-BE49-F238E27FC236}">
                <a16:creationId xmlns:a16="http://schemas.microsoft.com/office/drawing/2014/main" id="{EC1BCBBE-8AF5-44B6-8684-D1FE5A3A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77650" y="61341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过程追踪办理字段圆角外线">
            <a:extLst xmlns:a="http://schemas.openxmlformats.org/drawingml/2006/main">
              <a:ext uri="{FF2B5EF4-FFF2-40B4-BE49-F238E27FC236}">
                <a16:creationId xmlns:a16="http://schemas.microsoft.com/office/drawing/2014/main" id="{18384945-29EC-4BA6-95A9-4181B8A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1391900" cy="3581400"/>
          </a:xfrm>
          <a:prstGeom xmlns:a="http://schemas.openxmlformats.org/drawingml/2006/main" prst="roundRect">
            <a:avLst>
              <a:gd name="adj" fmla="val 31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7140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主标题">
            <a:extLst xmlns:a="http://schemas.openxmlformats.org/drawingml/2006/main">
              <a:ext uri="{FF2B5EF4-FFF2-40B4-BE49-F238E27FC236}">
                <a16:creationId xmlns:a16="http://schemas.microsoft.com/office/drawing/2014/main" id="{D329A597-ACB7-45E6-B2B3-F9A07F4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5.验收质检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587CAF8E-9F8C-432C-819B-DAE4C6E2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F800ED39-5401-40C2-89C8-77F9AD5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问责室统筹报送与稽核验收，抽检回溯覆盖整改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全过程</a:t>
            </a:r>
          </a:p>
        </p:txBody>
      </p:sp>
      <p:sp>
        <p:nvSpPr>
          <p:cNvPr id="4" name="验收层级 0边框">
            <a:extLst xmlns:a="http://schemas.openxmlformats.org/drawingml/2006/main">
              <a:ext uri="{FF2B5EF4-FFF2-40B4-BE49-F238E27FC236}">
                <a16:creationId xmlns:a16="http://schemas.microsoft.com/office/drawing/2014/main" id="{35BF29D6-C955-4998-AE3C-E6EB4178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3683000" cy="2590800"/>
          </a:xfrm>
          <a:prstGeom xmlns:a="http://schemas.openxmlformats.org/drawingml/2006/main" prst="roundRect">
            <a:avLst>
              <a:gd name="adj" fmla="val 5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验收层级 0标题底色">
            <a:extLst xmlns:a="http://schemas.openxmlformats.org/drawingml/2006/main">
              <a:ext uri="{FF2B5EF4-FFF2-40B4-BE49-F238E27FC236}">
                <a16:creationId xmlns:a16="http://schemas.microsoft.com/office/drawing/2014/main" id="{1F0437BC-33F2-46FE-972A-DECA55E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36639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验收层级 0标题">
            <a:extLst xmlns:a="http://schemas.openxmlformats.org/drawingml/2006/main">
              <a:ext uri="{FF2B5EF4-FFF2-40B4-BE49-F238E27FC236}">
                <a16:creationId xmlns:a16="http://schemas.microsoft.com/office/drawing/2014/main" id="{EA5AA0B2-C76E-4D1C-9778-0BBD9E1A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3038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一级自验</a:t>
            </a:r>
          </a:p>
        </p:txBody>
      </p:sp>
      <p:graphicFrame>
        <p:nvGraphicFramePr>
          <p:cNvPr id="7" name="三级验收主体动作 0">
            <a:extLst xmlns:a="http://schemas.openxmlformats.org/drawingml/2006/main">
              <a:ext uri="{FF2B5EF4-FFF2-40B4-BE49-F238E27FC236}">
                <a16:creationId xmlns:a16="http://schemas.microsoft.com/office/drawing/2014/main" id="{2245B90E-EEEF-4560-AFEB-68BE81FC8E1A}"/>
              </a:ext>
            </a:extLst>
          </p:cNvPr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3340100" cy="19431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47750"/>
                <a:gridCol w="2292350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责任主体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业务部门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佐证要求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全套佐证材料，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基础数据完整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提交时点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自验后实时提交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验收层级 1边框">
            <a:extLst xmlns:a="http://schemas.openxmlformats.org/drawingml/2006/main">
              <a:ext uri="{FF2B5EF4-FFF2-40B4-BE49-F238E27FC236}">
                <a16:creationId xmlns:a16="http://schemas.microsoft.com/office/drawing/2014/main" id="{306581BF-58DC-4871-92D7-5767C66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409700"/>
            <a:ext cx="3683000" cy="2590800"/>
          </a:xfrm>
          <a:prstGeom xmlns:a="http://schemas.openxmlformats.org/drawingml/2006/main" prst="roundRect">
            <a:avLst>
              <a:gd name="adj" fmla="val 5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9" name="验收层级 1标题底色">
            <a:extLst xmlns:a="http://schemas.openxmlformats.org/drawingml/2006/main">
              <a:ext uri="{FF2B5EF4-FFF2-40B4-BE49-F238E27FC236}">
                <a16:creationId xmlns:a16="http://schemas.microsoft.com/office/drawing/2014/main" id="{4558119D-610F-4DA3-9D4F-7BE5F81F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025" y="1419225"/>
            <a:ext cx="36639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验收层级 1标题">
            <a:extLst xmlns:a="http://schemas.openxmlformats.org/drawingml/2006/main">
              <a:ext uri="{FF2B5EF4-FFF2-40B4-BE49-F238E27FC236}">
                <a16:creationId xmlns:a16="http://schemas.microsoft.com/office/drawing/2014/main" id="{0B8A30C2-CE7A-4309-AC7F-2C701B95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443038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二级验收</a:t>
            </a:r>
          </a:p>
        </p:txBody>
      </p:sp>
      <p:graphicFrame>
        <p:nvGraphicFramePr>
          <p:cNvPr id="11" name="三级验收主体动作 1">
            <a:extLst xmlns:a="http://schemas.openxmlformats.org/drawingml/2006/main">
              <a:ext uri="{FF2B5EF4-FFF2-40B4-BE49-F238E27FC236}">
                <a16:creationId xmlns:a16="http://schemas.microsoft.com/office/drawing/2014/main" id="{E9C12B23-95CF-4AD9-8D67-D54816E103E4}"/>
              </a:ext>
            </a:extLst>
          </p:cNvPr>
          <p:cNvGraphicFramePr/>
          <p:nvPr/>
        </p:nvGraphicFramePr>
        <p:xfrm>
          <a:off xmlns:a="http://schemas.openxmlformats.org/drawingml/2006/main" x="4425950" y="1905000"/>
          <a:ext xmlns:a="http://schemas.openxmlformats.org/drawingml/2006/main" cx="3340100" cy="19431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47750"/>
                <a:gridCol w="2292350"/>
              </a:tblGrid>
              <a:tr h="4191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责任主体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稽核条线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复核动作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实质性复核关键举措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时点与处理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每月20日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验收，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不合格直接退回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验收层级 2边框">
            <a:extLst xmlns:a="http://schemas.openxmlformats.org/drawingml/2006/main">
              <a:ext uri="{FF2B5EF4-FFF2-40B4-BE49-F238E27FC236}">
                <a16:creationId xmlns:a16="http://schemas.microsoft.com/office/drawing/2014/main" id="{AC9030C5-37D8-4B7A-BB1E-6D6014FC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1409700"/>
            <a:ext cx="3683000" cy="2590800"/>
          </a:xfrm>
          <a:prstGeom xmlns:a="http://schemas.openxmlformats.org/drawingml/2006/main" prst="roundRect">
            <a:avLst>
              <a:gd name="adj" fmla="val 5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13" name="验收层级 2标题底色">
            <a:extLst xmlns:a="http://schemas.openxmlformats.org/drawingml/2006/main">
              <a:ext uri="{FF2B5EF4-FFF2-40B4-BE49-F238E27FC236}">
                <a16:creationId xmlns:a16="http://schemas.microsoft.com/office/drawing/2014/main" id="{38F3259A-86E7-4D11-B130-0170EB08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475" y="1419225"/>
            <a:ext cx="36639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验收层级 2标题">
            <a:extLst xmlns:a="http://schemas.openxmlformats.org/drawingml/2006/main">
              <a:ext uri="{FF2B5EF4-FFF2-40B4-BE49-F238E27FC236}">
                <a16:creationId xmlns:a16="http://schemas.microsoft.com/office/drawing/2014/main" id="{FAFAEE92-544A-4809-A648-36DB017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443038"/>
            <a:ext cx="341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三级质检</a:t>
            </a:r>
          </a:p>
        </p:txBody>
      </p:sp>
      <p:graphicFrame>
        <p:nvGraphicFramePr>
          <p:cNvPr id="15" name="三级验收主体动作 2">
            <a:extLst xmlns:a="http://schemas.openxmlformats.org/drawingml/2006/main">
              <a:ext uri="{FF2B5EF4-FFF2-40B4-BE49-F238E27FC236}">
                <a16:creationId xmlns:a16="http://schemas.microsoft.com/office/drawing/2014/main" id="{B852983F-3C8B-4429-8B4C-D956CF84458A}"/>
              </a:ext>
            </a:extLst>
          </p:cNvPr>
          <p:cNvGraphicFramePr/>
          <p:nvPr/>
        </p:nvGraphicFramePr>
        <p:xfrm>
          <a:off xmlns:a="http://schemas.openxmlformats.org/drawingml/2006/main" x="8280400" y="1905000"/>
          <a:ext xmlns:a="http://schemas.openxmlformats.org/drawingml/2006/main" cx="3340100" cy="19431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47750"/>
                <a:gridCol w="2292350"/>
              </a:tblGrid>
              <a:tr h="4000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责任主体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问责室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质检方式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季度抽检＋全链条回溯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抽检比例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高风险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100%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，中风险</a:t>
                      </a: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≥30%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结果处理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不合格予以通报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问责室全流程统筹底色">
            <a:extLst xmlns:a="http://schemas.openxmlformats.org/drawingml/2006/main">
              <a:ext uri="{FF2B5EF4-FFF2-40B4-BE49-F238E27FC236}">
                <a16:creationId xmlns:a16="http://schemas.microsoft.com/office/drawing/2014/main" id="{ED3A0FFE-63D4-4334-91CC-B476FEE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问责室全流程统筹">
            <a:extLst xmlns:a="http://schemas.openxmlformats.org/drawingml/2006/main">
              <a:ext uri="{FF2B5EF4-FFF2-40B4-BE49-F238E27FC236}">
                <a16:creationId xmlns:a16="http://schemas.microsoft.com/office/drawing/2014/main" id="{C40B547E-C4E6-4105-9AD8-97582DB2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1163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问责室统筹报送情况与稽核验收结果，抽检回溯覆盖七步流程</a:t>
            </a:r>
          </a:p>
        </p:txBody>
      </p:sp>
      <p:sp>
        <p:nvSpPr>
          <p:cNvPr id="18" name="全流程回溯步骤 0">
            <a:extLst xmlns:a="http://schemas.openxmlformats.org/drawingml/2006/main">
              <a:ext uri="{FF2B5EF4-FFF2-40B4-BE49-F238E27FC236}">
                <a16:creationId xmlns:a16="http://schemas.microsoft.com/office/drawing/2014/main" id="{D68F927F-64FB-4247-A931-BFDDFDEA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9" name="全流程回溯步骤文字 0">
            <a:extLst xmlns:a="http://schemas.openxmlformats.org/drawingml/2006/main">
              <a:ext uri="{FF2B5EF4-FFF2-40B4-BE49-F238E27FC236}">
                <a16:creationId xmlns:a16="http://schemas.microsoft.com/office/drawing/2014/main" id="{C1640FA5-5C3E-4097-9D34-E6FC88A7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1.任务下发</a:t>
            </a:r>
          </a:p>
        </p:txBody>
      </p:sp>
      <p:cxnSp>
        <p:nvCxnSpPr>
          <p:cNvPr id="20" name="全流程回溯步骤连接 0">
            <a:extLst xmlns:a="http://schemas.openxmlformats.org/drawingml/2006/main">
              <a:ext uri="{FF2B5EF4-FFF2-40B4-BE49-F238E27FC236}">
                <a16:creationId xmlns:a16="http://schemas.microsoft.com/office/drawing/2014/main" id="{67CD66B1-6BFD-4E98-9779-75C2DF1A1F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99557" y="49434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1" name="全流程回溯步骤 1">
            <a:extLst xmlns:a="http://schemas.openxmlformats.org/drawingml/2006/main">
              <a:ext uri="{FF2B5EF4-FFF2-40B4-BE49-F238E27FC236}">
                <a16:creationId xmlns:a16="http://schemas.microsoft.com/office/drawing/2014/main" id="{72AA7794-6F7E-43DB-800C-B290AAE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957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2" name="全流程回溯步骤文字 1">
            <a:extLst xmlns:a="http://schemas.openxmlformats.org/drawingml/2006/main">
              <a:ext uri="{FF2B5EF4-FFF2-40B4-BE49-F238E27FC236}">
                <a16:creationId xmlns:a16="http://schemas.microsoft.com/office/drawing/2014/main" id="{1BCA9B8F-2233-44D9-987B-66A21D63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2.成因分析</a:t>
            </a:r>
          </a:p>
        </p:txBody>
      </p:sp>
      <p:cxnSp>
        <p:nvCxnSpPr>
          <p:cNvPr id="23" name="全流程回溯步骤连接 1">
            <a:extLst xmlns:a="http://schemas.openxmlformats.org/drawingml/2006/main">
              <a:ext uri="{FF2B5EF4-FFF2-40B4-BE49-F238E27FC236}">
                <a16:creationId xmlns:a16="http://schemas.microsoft.com/office/drawing/2014/main" id="{F930F0F8-A08F-48DC-8192-14AB25F6EB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51464" y="49434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4" name="全流程回溯步骤 2">
            <a:extLst xmlns:a="http://schemas.openxmlformats.org/drawingml/2006/main">
              <a:ext uri="{FF2B5EF4-FFF2-40B4-BE49-F238E27FC236}">
                <a16:creationId xmlns:a16="http://schemas.microsoft.com/office/drawing/2014/main" id="{2C5BF6C0-2617-4279-AE85-2A1B0DC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864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5" name="全流程回溯步骤文字 2">
            <a:extLst xmlns:a="http://schemas.openxmlformats.org/drawingml/2006/main">
              <a:ext uri="{FF2B5EF4-FFF2-40B4-BE49-F238E27FC236}">
                <a16:creationId xmlns:a16="http://schemas.microsoft.com/office/drawing/2014/main" id="{32BE9351-1909-4C5B-9B2B-0B2D6B61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014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3.措施制定</a:t>
            </a:r>
          </a:p>
        </p:txBody>
      </p:sp>
      <p:cxnSp>
        <p:nvCxnSpPr>
          <p:cNvPr id="26" name="全流程回溯步骤连接 2">
            <a:extLst xmlns:a="http://schemas.openxmlformats.org/drawingml/2006/main">
              <a:ext uri="{FF2B5EF4-FFF2-40B4-BE49-F238E27FC236}">
                <a16:creationId xmlns:a16="http://schemas.microsoft.com/office/drawing/2014/main" id="{476602F4-07BB-4B07-B103-EE8CF31515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03371" y="49434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7" name="全流程回溯步骤 3">
            <a:extLst xmlns:a="http://schemas.openxmlformats.org/drawingml/2006/main">
              <a:ext uri="{FF2B5EF4-FFF2-40B4-BE49-F238E27FC236}">
                <a16:creationId xmlns:a16="http://schemas.microsoft.com/office/drawing/2014/main" id="{80CCD4E2-F253-4308-9307-E6442A06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771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8" name="全流程回溯步骤文字 3">
            <a:extLst xmlns:a="http://schemas.openxmlformats.org/drawingml/2006/main">
              <a:ext uri="{FF2B5EF4-FFF2-40B4-BE49-F238E27FC236}">
                <a16:creationId xmlns:a16="http://schemas.microsoft.com/office/drawing/2014/main" id="{AFA696A5-DF97-4F29-B06F-B7531A5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4.过程追踪</a:t>
            </a:r>
          </a:p>
        </p:txBody>
      </p:sp>
      <p:cxnSp>
        <p:nvCxnSpPr>
          <p:cNvPr id="29" name="全流程回溯步骤连接 3">
            <a:extLst xmlns:a="http://schemas.openxmlformats.org/drawingml/2006/main">
              <a:ext uri="{FF2B5EF4-FFF2-40B4-BE49-F238E27FC236}">
                <a16:creationId xmlns:a16="http://schemas.microsoft.com/office/drawing/2014/main" id="{8BA6EA11-BBE4-4CA3-AC43-3918EB3604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5279" y="49434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30" name="全流程回溯步骤 4">
            <a:extLst xmlns:a="http://schemas.openxmlformats.org/drawingml/2006/main">
              <a:ext uri="{FF2B5EF4-FFF2-40B4-BE49-F238E27FC236}">
                <a16:creationId xmlns:a16="http://schemas.microsoft.com/office/drawing/2014/main" id="{35161574-683F-4B78-9DA6-A1E6C4F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679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1" name="全流程回溯步骤文字 4">
            <a:extLst xmlns:a="http://schemas.openxmlformats.org/drawingml/2006/main">
              <a:ext uri="{FF2B5EF4-FFF2-40B4-BE49-F238E27FC236}">
                <a16:creationId xmlns:a16="http://schemas.microsoft.com/office/drawing/2014/main" id="{BC006C0A-F54B-49D4-B63E-E82F514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829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5.验收质检</a:t>
            </a:r>
          </a:p>
        </p:txBody>
      </p:sp>
      <p:cxnSp>
        <p:nvCxnSpPr>
          <p:cNvPr id="32" name="全流程回溯步骤连接 4">
            <a:extLst xmlns:a="http://schemas.openxmlformats.org/drawingml/2006/main">
              <a:ext uri="{FF2B5EF4-FFF2-40B4-BE49-F238E27FC236}">
                <a16:creationId xmlns:a16="http://schemas.microsoft.com/office/drawing/2014/main" id="{D030701D-F412-4E64-BA06-15927CF8BC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07186" y="49434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33" name="全流程回溯步骤 5">
            <a:extLst xmlns:a="http://schemas.openxmlformats.org/drawingml/2006/main">
              <a:ext uri="{FF2B5EF4-FFF2-40B4-BE49-F238E27FC236}">
                <a16:creationId xmlns:a16="http://schemas.microsoft.com/office/drawing/2014/main" id="{65DEE7C2-F7F1-47E5-9AD0-B9DF578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4" name="全流程回溯步骤文字 5">
            <a:extLst xmlns:a="http://schemas.openxmlformats.org/drawingml/2006/main">
              <a:ext uri="{FF2B5EF4-FFF2-40B4-BE49-F238E27FC236}">
                <a16:creationId xmlns:a16="http://schemas.microsoft.com/office/drawing/2014/main" id="{40755C22-2F0C-424B-820A-41032D34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36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6.业审联动</a:t>
            </a:r>
          </a:p>
        </p:txBody>
      </p:sp>
      <p:cxnSp>
        <p:nvCxnSpPr>
          <p:cNvPr id="35" name="全流程回溯步骤连接 5">
            <a:extLst xmlns:a="http://schemas.openxmlformats.org/drawingml/2006/main">
              <a:ext uri="{FF2B5EF4-FFF2-40B4-BE49-F238E27FC236}">
                <a16:creationId xmlns:a16="http://schemas.microsoft.com/office/drawing/2014/main" id="{D6C6B4AE-55EF-434A-B3E1-88FF2E5B91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59093" y="49434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36" name="全流程回溯步骤 6">
            <a:extLst xmlns:a="http://schemas.openxmlformats.org/drawingml/2006/main">
              <a:ext uri="{FF2B5EF4-FFF2-40B4-BE49-F238E27FC236}">
                <a16:creationId xmlns:a16="http://schemas.microsoft.com/office/drawing/2014/main" id="{54E006EA-EF17-492F-A002-F62D168D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493" y="4648200"/>
            <a:ext cx="1480457" cy="59055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37" name="全流程回溯步骤文字 6">
            <a:extLst xmlns:a="http://schemas.openxmlformats.org/drawingml/2006/main">
              <a:ext uri="{FF2B5EF4-FFF2-40B4-BE49-F238E27FC236}">
                <a16:creationId xmlns:a16="http://schemas.microsoft.com/office/drawing/2014/main" id="{E9CA49BE-9461-4AC0-BA1C-8764F31C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643" y="4810125"/>
            <a:ext cx="136615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5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7.考核落地</a:t>
            </a:r>
          </a:p>
        </p:txBody>
      </p:sp>
      <p:sp>
        <p:nvSpPr>
          <p:cNvPr id="38" name="三不通过标准标题底色">
            <a:extLst xmlns:a="http://schemas.openxmlformats.org/drawingml/2006/main">
              <a:ext uri="{FF2B5EF4-FFF2-40B4-BE49-F238E27FC236}">
                <a16:creationId xmlns:a16="http://schemas.microsoft.com/office/drawing/2014/main" id="{FF2B3FE8-F480-49D7-99AB-DF0001A2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三不通过标准标题">
            <a:extLst xmlns:a="http://schemas.openxmlformats.org/drawingml/2006/main">
              <a:ext uri="{FF2B5EF4-FFF2-40B4-BE49-F238E27FC236}">
                <a16:creationId xmlns:a16="http://schemas.microsoft.com/office/drawing/2014/main" id="{73DBF1FC-E8CA-41D2-A4E7-3FBF6F01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三不通过</a:t>
            </a:r>
          </a:p>
        </p:txBody>
      </p:sp>
      <p:graphicFrame>
        <p:nvGraphicFramePr>
          <p:cNvPr id="40" name="三不通过原生条款">
            <a:extLst xmlns:a="http://schemas.openxmlformats.org/drawingml/2006/main">
              <a:ext uri="{FF2B5EF4-FFF2-40B4-BE49-F238E27FC236}">
                <a16:creationId xmlns:a16="http://schemas.microsoft.com/office/drawing/2014/main" id="{1E9E1EB1-47D8-472F-AFD4-BC29204D1F23}"/>
              </a:ext>
            </a:extLst>
          </p:cNvPr>
          <p:cNvGraphicFramePr/>
          <p:nvPr/>
        </p:nvGraphicFramePr>
        <p:xfrm>
          <a:off xmlns:a="http://schemas.openxmlformats.org/drawingml/2006/main" x="400050" y="5753100"/>
          <a:ext xmlns:a="http://schemas.openxmlformats.org/drawingml/2006/main" cx="11391900" cy="4953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800475"/>
                <a:gridCol w="3800475"/>
                <a:gridCol w="379095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佐证不全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不通过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措施无效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不通过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根源未改</a:t>
                      </a: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不通过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68590B6E-82A6-4533-9B5A-B4A4F76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259E15D2-71B5-4501-B005-16D0C6A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43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EFC65A8E-0AA8-4212-B23A-9A8328CF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44" name="页码">
            <a:extLst xmlns:a="http://schemas.openxmlformats.org/drawingml/2006/main">
              <a:ext uri="{FF2B5EF4-FFF2-40B4-BE49-F238E27FC236}">
                <a16:creationId xmlns:a16="http://schemas.microsoft.com/office/drawing/2014/main" id="{B96CDEB6-5D42-4AB2-A13D-74698241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13 / 15</a:t>
            </a:r>
          </a:p>
        </p:txBody>
      </p:sp>
      <p:sp>
        <p:nvSpPr>
          <p:cNvPr id="46" name="三级验收主体动作 0圆角遮罩TL">
            <a:extLst xmlns:a="http://schemas.openxmlformats.org/drawingml/2006/main">
              <a:ext uri="{FF2B5EF4-FFF2-40B4-BE49-F238E27FC236}">
                <a16:creationId xmlns:a16="http://schemas.microsoft.com/office/drawing/2014/main" id="{32FBD4E1-FA19-453D-9562-4B454C81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三级验收主体动作 0圆角遮罩TR">
            <a:extLst xmlns:a="http://schemas.openxmlformats.org/drawingml/2006/main">
              <a:ext uri="{FF2B5EF4-FFF2-40B4-BE49-F238E27FC236}">
                <a16:creationId xmlns:a16="http://schemas.microsoft.com/office/drawing/2014/main" id="{35CA7C2D-19F5-499B-B96D-4920EF7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97300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三级验收主体动作 0圆角遮罩BL">
            <a:extLst xmlns:a="http://schemas.openxmlformats.org/drawingml/2006/main">
              <a:ext uri="{FF2B5EF4-FFF2-40B4-BE49-F238E27FC236}">
                <a16:creationId xmlns:a16="http://schemas.microsoft.com/office/drawing/2014/main" id="{77E13F2E-1723-44AF-A0F7-8BDA5A3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975" y="37338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三级验收主体动作 0圆角遮罩BR">
            <a:extLst xmlns:a="http://schemas.openxmlformats.org/drawingml/2006/main">
              <a:ext uri="{FF2B5EF4-FFF2-40B4-BE49-F238E27FC236}">
                <a16:creationId xmlns:a16="http://schemas.microsoft.com/office/drawing/2014/main" id="{DC9A4626-2286-4E60-B8AE-5ED2DAEB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97300" y="37338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三级验收主体动作 0圆角外线">
            <a:extLst xmlns:a="http://schemas.openxmlformats.org/drawingml/2006/main">
              <a:ext uri="{FF2B5EF4-FFF2-40B4-BE49-F238E27FC236}">
                <a16:creationId xmlns:a16="http://schemas.microsoft.com/office/drawing/2014/main" id="{5E7BF49D-853E-4967-8CA0-9FF0F6D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340100" cy="1943100"/>
          </a:xfrm>
          <a:prstGeom xmlns:a="http://schemas.openxmlformats.org/drawingml/2006/main" prst="roundRect">
            <a:avLst>
              <a:gd name="adj" fmla="val 58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51" name="三级验收主体动作 1圆角遮罩TL">
            <a:extLst xmlns:a="http://schemas.openxmlformats.org/drawingml/2006/main">
              <a:ext uri="{FF2B5EF4-FFF2-40B4-BE49-F238E27FC236}">
                <a16:creationId xmlns:a16="http://schemas.microsoft.com/office/drawing/2014/main" id="{677AF26E-1BE8-4884-ABC9-0D4FC47F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16425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三级验收主体动作 1圆角遮罩TR">
            <a:extLst xmlns:a="http://schemas.openxmlformats.org/drawingml/2006/main">
              <a:ext uri="{FF2B5EF4-FFF2-40B4-BE49-F238E27FC236}">
                <a16:creationId xmlns:a16="http://schemas.microsoft.com/office/drawing/2014/main" id="{88322E1E-6763-463A-B6F0-B0344EB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651750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三级验收主体动作 1圆角遮罩BL">
            <a:extLst xmlns:a="http://schemas.openxmlformats.org/drawingml/2006/main">
              <a:ext uri="{FF2B5EF4-FFF2-40B4-BE49-F238E27FC236}">
                <a16:creationId xmlns:a16="http://schemas.microsoft.com/office/drawing/2014/main" id="{90C33C18-D14F-4A2D-9ABB-E93D1B48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6425" y="37338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三级验收主体动作 1圆角遮罩BR">
            <a:extLst xmlns:a="http://schemas.openxmlformats.org/drawingml/2006/main">
              <a:ext uri="{FF2B5EF4-FFF2-40B4-BE49-F238E27FC236}">
                <a16:creationId xmlns:a16="http://schemas.microsoft.com/office/drawing/2014/main" id="{D4E6E86F-3D90-4127-BF1A-3561FAA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651750" y="37338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三级验收主体动作 1圆角外线">
            <a:extLst xmlns:a="http://schemas.openxmlformats.org/drawingml/2006/main">
              <a:ext uri="{FF2B5EF4-FFF2-40B4-BE49-F238E27FC236}">
                <a16:creationId xmlns:a16="http://schemas.microsoft.com/office/drawing/2014/main" id="{F8FAFE93-FA9C-4B57-9EAD-E98336C7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905000"/>
            <a:ext cx="3340100" cy="1943100"/>
          </a:xfrm>
          <a:prstGeom xmlns:a="http://schemas.openxmlformats.org/drawingml/2006/main" prst="roundRect">
            <a:avLst>
              <a:gd name="adj" fmla="val 58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56" name="三级验收主体动作 2圆角遮罩TL">
            <a:extLst xmlns:a="http://schemas.openxmlformats.org/drawingml/2006/main">
              <a:ext uri="{FF2B5EF4-FFF2-40B4-BE49-F238E27FC236}">
                <a16:creationId xmlns:a16="http://schemas.microsoft.com/office/drawing/2014/main" id="{0F7D344A-3EEC-4E21-ADDE-14A04B0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0875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三级验收主体动作 2圆角遮罩TR">
            <a:extLst xmlns:a="http://schemas.openxmlformats.org/drawingml/2006/main">
              <a:ext uri="{FF2B5EF4-FFF2-40B4-BE49-F238E27FC236}">
                <a16:creationId xmlns:a16="http://schemas.microsoft.com/office/drawing/2014/main" id="{50F89107-A5C2-480D-AAF4-CE026D85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506200" y="18954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三级验收主体动作 2圆角遮罩BL">
            <a:extLst xmlns:a="http://schemas.openxmlformats.org/drawingml/2006/main">
              <a:ext uri="{FF2B5EF4-FFF2-40B4-BE49-F238E27FC236}">
                <a16:creationId xmlns:a16="http://schemas.microsoft.com/office/drawing/2014/main" id="{9D5A0B4D-F925-4D2D-BF0E-2326978B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70875" y="37338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三级验收主体动作 2圆角遮罩BR">
            <a:extLst xmlns:a="http://schemas.openxmlformats.org/drawingml/2006/main">
              <a:ext uri="{FF2B5EF4-FFF2-40B4-BE49-F238E27FC236}">
                <a16:creationId xmlns:a16="http://schemas.microsoft.com/office/drawing/2014/main" id="{E78535F7-21FC-4A4D-B401-60D392FD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06200" y="37338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三级验收主体动作 2圆角外线">
            <a:extLst xmlns:a="http://schemas.openxmlformats.org/drawingml/2006/main">
              <a:ext uri="{FF2B5EF4-FFF2-40B4-BE49-F238E27FC236}">
                <a16:creationId xmlns:a16="http://schemas.microsoft.com/office/drawing/2014/main" id="{FE0CE9F4-9B0A-431D-8755-DCD78FC9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905000"/>
            <a:ext cx="3340100" cy="1943100"/>
          </a:xfrm>
          <a:prstGeom xmlns:a="http://schemas.openxmlformats.org/drawingml/2006/main" prst="roundRect">
            <a:avLst>
              <a:gd name="adj" fmla="val 58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61" name="三不通过原生条款圆角遮罩TL">
            <a:extLst xmlns:a="http://schemas.openxmlformats.org/drawingml/2006/main">
              <a:ext uri="{FF2B5EF4-FFF2-40B4-BE49-F238E27FC236}">
                <a16:creationId xmlns:a16="http://schemas.microsoft.com/office/drawing/2014/main" id="{1D4043D2-12A4-4154-A65D-73C32E5B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" y="574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三不通过原生条款圆角遮罩TR">
            <a:extLst xmlns:a="http://schemas.openxmlformats.org/drawingml/2006/main">
              <a:ext uri="{FF2B5EF4-FFF2-40B4-BE49-F238E27FC236}">
                <a16:creationId xmlns:a16="http://schemas.microsoft.com/office/drawing/2014/main" id="{3A438CA6-C777-4054-AE01-EAD30E81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77650" y="574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三不通过原生条款圆角遮罩BL">
            <a:extLst xmlns:a="http://schemas.openxmlformats.org/drawingml/2006/main">
              <a:ext uri="{FF2B5EF4-FFF2-40B4-BE49-F238E27FC236}">
                <a16:creationId xmlns:a16="http://schemas.microsoft.com/office/drawing/2014/main" id="{7CF52308-8994-4CFF-8E2E-605E7BD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0525" y="61341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三不通过原生条款圆角遮罩BR">
            <a:extLst xmlns:a="http://schemas.openxmlformats.org/drawingml/2006/main">
              <a:ext uri="{FF2B5EF4-FFF2-40B4-BE49-F238E27FC236}">
                <a16:creationId xmlns:a16="http://schemas.microsoft.com/office/drawing/2014/main" id="{F8420E5A-4234-4F1F-8594-37F7490E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677650" y="61341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三不通过原生条款圆角外线">
            <a:extLst xmlns:a="http://schemas.openxmlformats.org/drawingml/2006/main">
              <a:ext uri="{FF2B5EF4-FFF2-40B4-BE49-F238E27FC236}">
                <a16:creationId xmlns:a16="http://schemas.microsoft.com/office/drawing/2014/main" id="{4B2ADCBD-CE2A-42D4-A1E0-20300CE9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64845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主标题">
            <a:extLst xmlns:a="http://schemas.openxmlformats.org/drawingml/2006/main">
              <a:ext uri="{FF2B5EF4-FFF2-40B4-BE49-F238E27FC236}">
                <a16:creationId xmlns:a16="http://schemas.microsoft.com/office/drawing/2014/main" id="{03A97105-D5FD-429D-91E0-65B34F33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6.业审联动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C5F8BA3B-7E2F-47A4-A226-F6AE336C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49F3C421-205A-499B-9242-769DC454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相较原五步流程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新增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长效治理模块，对问题与措施持续回溯</a:t>
            </a:r>
          </a:p>
        </p:txBody>
      </p:sp>
      <p:sp>
        <p:nvSpPr>
          <p:cNvPr id="4" name="业审联动组织安排边框">
            <a:extLst xmlns:a="http://schemas.openxmlformats.org/drawingml/2006/main">
              <a:ext uri="{FF2B5EF4-FFF2-40B4-BE49-F238E27FC236}">
                <a16:creationId xmlns:a16="http://schemas.microsoft.com/office/drawing/2014/main" id="{271BB3B8-B4E6-45F8-8849-C82EC0D5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933700" cy="48387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业审联动组织安排标题底色">
            <a:extLst xmlns:a="http://schemas.openxmlformats.org/drawingml/2006/main">
              <a:ext uri="{FF2B5EF4-FFF2-40B4-BE49-F238E27FC236}">
                <a16:creationId xmlns:a16="http://schemas.microsoft.com/office/drawing/2014/main" id="{729D723E-B913-4B21-B638-9C1010CE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29146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业审联动组织安排标题">
            <a:extLst xmlns:a="http://schemas.openxmlformats.org/drawingml/2006/main">
              <a:ext uri="{FF2B5EF4-FFF2-40B4-BE49-F238E27FC236}">
                <a16:creationId xmlns:a16="http://schemas.microsoft.com/office/drawing/2014/main" id="{1F31E58D-BAAD-41F7-955E-46CC2B30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组织与安排</a:t>
            </a:r>
          </a:p>
        </p:txBody>
      </p:sp>
      <p:graphicFrame>
        <p:nvGraphicFramePr>
          <p:cNvPr id="7" name="联动责任周期形式落地">
            <a:extLst xmlns:a="http://schemas.openxmlformats.org/drawingml/2006/main">
              <a:ext uri="{FF2B5EF4-FFF2-40B4-BE49-F238E27FC236}">
                <a16:creationId xmlns:a16="http://schemas.microsoft.com/office/drawing/2014/main" id="{A88AFB53-B759-49A3-ABAA-D943887CD56A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2590800" cy="3943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781050"/>
                <a:gridCol w="180975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驱动方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稽核条线与业务部门双向驱动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参与方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问责室、法律合规部参与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频率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月度／双月度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形式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邮件＋</a:t>
                      </a:r>
                      <a:b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</a:b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业审联动沟通会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落地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机构难触达、难根治的问题，由总部负责落地执行。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业审联动新增长效治理边框">
            <a:extLst xmlns:a="http://schemas.openxmlformats.org/drawingml/2006/main">
              <a:ext uri="{FF2B5EF4-FFF2-40B4-BE49-F238E27FC236}">
                <a16:creationId xmlns:a16="http://schemas.microsoft.com/office/drawing/2014/main" id="{4ED4547D-9E35-4C46-999E-F72E2A62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09700"/>
            <a:ext cx="8267700" cy="4838700"/>
          </a:xfrm>
          <a:prstGeom xmlns:a="http://schemas.openxmlformats.org/drawingml/2006/main" prst="roundRect">
            <a:avLst>
              <a:gd name="adj" fmla="val 2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9" name="业审联动新增长效治理标题底色">
            <a:extLst xmlns:a="http://schemas.openxmlformats.org/drawingml/2006/main">
              <a:ext uri="{FF2B5EF4-FFF2-40B4-BE49-F238E27FC236}">
                <a16:creationId xmlns:a16="http://schemas.microsoft.com/office/drawing/2014/main" id="{D7173D9C-5706-4758-A6F5-26AF1A2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419225"/>
            <a:ext cx="82486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业审联动新增长效治理标题">
            <a:extLst xmlns:a="http://schemas.openxmlformats.org/drawingml/2006/main">
              <a:ext uri="{FF2B5EF4-FFF2-40B4-BE49-F238E27FC236}">
                <a16:creationId xmlns:a16="http://schemas.microsoft.com/office/drawing/2014/main" id="{0FD3B0E0-A2E4-47D3-8BDF-F4FDCFDE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43038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新增模块：问题回溯与长效治理</a:t>
            </a:r>
          </a:p>
        </p:txBody>
      </p:sp>
      <p:sp>
        <p:nvSpPr>
          <p:cNvPr id="11" name="业审联动治理议题 0">
            <a:extLst xmlns:a="http://schemas.openxmlformats.org/drawingml/2006/main">
              <a:ext uri="{FF2B5EF4-FFF2-40B4-BE49-F238E27FC236}">
                <a16:creationId xmlns:a16="http://schemas.microsoft.com/office/drawing/2014/main" id="{9F3DAAF0-7093-4921-B4E7-0158C2A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7296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2" name="业审联动议题标题 0底色">
            <a:extLst xmlns:a="http://schemas.openxmlformats.org/drawingml/2006/main">
              <a:ext uri="{FF2B5EF4-FFF2-40B4-BE49-F238E27FC236}">
                <a16:creationId xmlns:a16="http://schemas.microsoft.com/office/drawing/2014/main" id="{0F8B06E4-9137-4DA0-B32D-07BC700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7296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业审联动议题标题 0">
            <a:extLst xmlns:a="http://schemas.openxmlformats.org/drawingml/2006/main">
              <a:ext uri="{FF2B5EF4-FFF2-40B4-BE49-F238E27FC236}">
                <a16:creationId xmlns:a16="http://schemas.microsoft.com/office/drawing/2014/main" id="{D7B3F38F-9626-4BBE-A8D0-CB1FA6FC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1. 通报问题发现</a:t>
            </a:r>
          </a:p>
        </p:txBody>
      </p:sp>
      <p:sp>
        <p:nvSpPr>
          <p:cNvPr id="14" name="业审联动议题动作 0">
            <a:extLst xmlns:a="http://schemas.openxmlformats.org/drawingml/2006/main">
              <a:ext uri="{FF2B5EF4-FFF2-40B4-BE49-F238E27FC236}">
                <a16:creationId xmlns:a16="http://schemas.microsoft.com/office/drawing/2014/main" id="{4177D73A-85DE-4868-AD85-1C1D9EAE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699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总结近期稽核问题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聚焦高频、共性、典型问题</a:t>
            </a:r>
          </a:p>
        </p:txBody>
      </p:sp>
      <p:cxnSp>
        <p:nvCxnSpPr>
          <p:cNvPr id="15" name="业审联动议题递进 0">
            <a:extLst xmlns:a="http://schemas.openxmlformats.org/drawingml/2006/main">
              <a:ext uri="{FF2B5EF4-FFF2-40B4-BE49-F238E27FC236}">
                <a16:creationId xmlns:a16="http://schemas.microsoft.com/office/drawing/2014/main" id="{E8CADE4C-E848-44A2-B650-2BEE3EED7C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05725" y="31242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16" name="业审联动治理议题 1">
            <a:extLst xmlns:a="http://schemas.openxmlformats.org/drawingml/2006/main">
              <a:ext uri="{FF2B5EF4-FFF2-40B4-BE49-F238E27FC236}">
                <a16:creationId xmlns:a16="http://schemas.microsoft.com/office/drawing/2014/main" id="{71AA835C-263B-4459-AA66-DE9545A7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05175"/>
            <a:ext cx="7296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17" name="业审联动议题标题 1底色">
            <a:extLst xmlns:a="http://schemas.openxmlformats.org/drawingml/2006/main">
              <a:ext uri="{FF2B5EF4-FFF2-40B4-BE49-F238E27FC236}">
                <a16:creationId xmlns:a16="http://schemas.microsoft.com/office/drawing/2014/main" id="{B21972B8-4962-4695-84C7-A3B83C0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05175"/>
            <a:ext cx="7296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业审联动议题标题 1">
            <a:extLst xmlns:a="http://schemas.openxmlformats.org/drawingml/2006/main">
              <a:ext uri="{FF2B5EF4-FFF2-40B4-BE49-F238E27FC236}">
                <a16:creationId xmlns:a16="http://schemas.microsoft.com/office/drawing/2014/main" id="{11A8CAE0-60CE-4ABA-A8DC-9260C5D1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43275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2. 归因与源头治理</a:t>
            </a:r>
          </a:p>
        </p:txBody>
      </p:sp>
      <p:sp>
        <p:nvSpPr>
          <p:cNvPr id="19" name="业审联动议题动作 1">
            <a:extLst xmlns:a="http://schemas.openxmlformats.org/drawingml/2006/main">
              <a:ext uri="{FF2B5EF4-FFF2-40B4-BE49-F238E27FC236}">
                <a16:creationId xmlns:a16="http://schemas.microsoft.com/office/drawing/2014/main" id="{D12155FC-58C5-4285-B44E-352A95C3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24275"/>
            <a:ext cx="699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同类问题溯源分析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明确制度、系统等风控措施</a:t>
            </a:r>
          </a:p>
        </p:txBody>
      </p:sp>
      <p:cxnSp>
        <p:nvCxnSpPr>
          <p:cNvPr id="20" name="业审联动议题递进 1">
            <a:extLst xmlns:a="http://schemas.openxmlformats.org/drawingml/2006/main">
              <a:ext uri="{FF2B5EF4-FFF2-40B4-BE49-F238E27FC236}">
                <a16:creationId xmlns:a16="http://schemas.microsoft.com/office/drawing/2014/main" id="{ED7C3116-04EC-43A3-93CB-808C05DD7F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05725" y="43719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1" name="业审联动治理议题 2">
            <a:extLst xmlns:a="http://schemas.openxmlformats.org/drawingml/2006/main">
              <a:ext uri="{FF2B5EF4-FFF2-40B4-BE49-F238E27FC236}">
                <a16:creationId xmlns:a16="http://schemas.microsoft.com/office/drawing/2014/main" id="{B2B085C8-6009-4E03-A14E-A2557CB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7296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2" name="业审联动议题标题 2底色">
            <a:extLst xmlns:a="http://schemas.openxmlformats.org/drawingml/2006/main">
              <a:ext uri="{FF2B5EF4-FFF2-40B4-BE49-F238E27FC236}">
                <a16:creationId xmlns:a16="http://schemas.microsoft.com/office/drawing/2014/main" id="{32E6602F-5F4C-435C-8A1A-D587235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7296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业审联动议题标题 2">
            <a:extLst xmlns:a="http://schemas.openxmlformats.org/drawingml/2006/main">
              <a:ext uri="{FF2B5EF4-FFF2-40B4-BE49-F238E27FC236}">
                <a16:creationId xmlns:a16="http://schemas.microsoft.com/office/drawing/2014/main" id="{03864133-5AA5-4CD9-AE0F-32312056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9105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3. 回溯与跟踪验证</a:t>
            </a:r>
          </a:p>
        </p:txBody>
      </p:sp>
      <p:sp>
        <p:nvSpPr>
          <p:cNvPr id="24" name="业审联动议题动作 2">
            <a:extLst xmlns:a="http://schemas.openxmlformats.org/drawingml/2006/main">
              <a:ext uri="{FF2B5EF4-FFF2-40B4-BE49-F238E27FC236}">
                <a16:creationId xmlns:a16="http://schemas.microsoft.com/office/drawing/2014/main" id="{DCCD63EF-0552-4FF5-A3A9-57713900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72050"/>
            <a:ext cx="699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监测已落地措施执行效果</a:t>
            </a:r>
          </a:p>
          <a:p xmlns:a="http://schemas.openxmlformats.org/drawingml/2006/main">
            <a:pPr marL="177800" indent="-88900"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buChar char="·"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回溯问题及治理效果，必要时调整策略</a:t>
            </a:r>
          </a:p>
        </p:txBody>
      </p:sp>
      <p:sp>
        <p:nvSpPr>
          <p:cNvPr id="25" name="回溯返回第三议题出线">
            <a:extLst xmlns:a="http://schemas.openxmlformats.org/drawingml/2006/main">
              <a:ext uri="{FF2B5EF4-FFF2-40B4-BE49-F238E27FC236}">
                <a16:creationId xmlns:a16="http://schemas.microsoft.com/office/drawing/2014/main" id="{AAB37F5E-1B72-4D1C-8121-5290085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57625" y="507682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A5A26"/>
            </a:solidFill>
            <a:prstDash val="solid"/>
          </a:ln>
        </p:spPr>
      </p:sp>
      <p:sp>
        <p:nvSpPr>
          <p:cNvPr id="26" name="回溯返回竖线">
            <a:extLst xmlns:a="http://schemas.openxmlformats.org/drawingml/2006/main">
              <a:ext uri="{FF2B5EF4-FFF2-40B4-BE49-F238E27FC236}">
                <a16:creationId xmlns:a16="http://schemas.microsoft.com/office/drawing/2014/main" id="{33E6EB13-040E-42FE-AD81-0C08CD82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57625" y="2581275"/>
            <a:ext cx="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A5A26"/>
            </a:solidFill>
            <a:prstDash val="solid"/>
          </a:ln>
        </p:spPr>
      </p:sp>
      <p:cxnSp>
        <p:nvCxnSpPr>
          <p:cNvPr id="27" name="回溯返回首议题">
            <a:extLst xmlns:a="http://schemas.openxmlformats.org/drawingml/2006/main">
              <a:ext uri="{FF2B5EF4-FFF2-40B4-BE49-F238E27FC236}">
                <a16:creationId xmlns:a16="http://schemas.microsoft.com/office/drawing/2014/main" id="{D713CEEE-B023-44FA-A727-758109BE60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25812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A5A26"/>
            </a:solidFill>
            <a:prstDash val="solid"/>
            <a:tailEnd type="arrow" w="med" len="med"/>
          </a:ln>
        </p:spPr>
      </p:cxnSp>
      <p:sp>
        <p:nvSpPr>
          <p:cNvPr id="28" name="业审联动总部落地要求底色">
            <a:extLst xmlns:a="http://schemas.openxmlformats.org/drawingml/2006/main">
              <a:ext uri="{FF2B5EF4-FFF2-40B4-BE49-F238E27FC236}">
                <a16:creationId xmlns:a16="http://schemas.microsoft.com/office/drawing/2014/main" id="{32DBFE14-C257-4FCE-A170-4E0C5D2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业审联动总部落地要求">
            <a:extLst xmlns:a="http://schemas.openxmlformats.org/drawingml/2006/main">
              <a:ext uri="{FF2B5EF4-FFF2-40B4-BE49-F238E27FC236}">
                <a16:creationId xmlns:a16="http://schemas.microsoft.com/office/drawing/2014/main" id="{24564E52-3315-43EE-A97D-5BB86B6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57875"/>
            <a:ext cx="706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4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机构难触达、难根治的问题，由总部负责落地执行。</a:t>
            </a:r>
          </a:p>
        </p:txBody>
      </p:sp>
      <p:sp>
        <p:nvSpPr>
          <p:cNvPr id="30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20F24D6D-7BAA-4FFC-92FC-55CB27C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94BF6375-DA5C-46D7-8360-631B8AD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32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893B07D7-C715-4A88-97E4-760E1730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33" name="页码">
            <a:extLst xmlns:a="http://schemas.openxmlformats.org/drawingml/2006/main">
              <a:ext uri="{FF2B5EF4-FFF2-40B4-BE49-F238E27FC236}">
                <a16:creationId xmlns:a16="http://schemas.microsoft.com/office/drawing/2014/main" id="{7DA43058-F649-4276-B8C2-0CB5B25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14 / 15</a:t>
            </a:r>
          </a:p>
        </p:txBody>
      </p:sp>
      <p:sp>
        <p:nvSpPr>
          <p:cNvPr id="35" name="联动责任周期形式落地圆角遮罩TL">
            <a:extLst xmlns:a="http://schemas.openxmlformats.org/drawingml/2006/main">
              <a:ext uri="{FF2B5EF4-FFF2-40B4-BE49-F238E27FC236}">
                <a16:creationId xmlns:a16="http://schemas.microsoft.com/office/drawing/2014/main" id="{E06F5EEE-B7A9-40F5-B7A2-CC670FA4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联动责任周期形式落地圆角遮罩TR">
            <a:extLst xmlns:a="http://schemas.openxmlformats.org/drawingml/2006/main">
              <a:ext uri="{FF2B5EF4-FFF2-40B4-BE49-F238E27FC236}">
                <a16:creationId xmlns:a16="http://schemas.microsoft.com/office/drawing/2014/main" id="{01951E63-A775-4F1B-AA6D-2448967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48000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联动责任周期形式落地圆角遮罩BL">
            <a:extLst xmlns:a="http://schemas.openxmlformats.org/drawingml/2006/main">
              <a:ext uri="{FF2B5EF4-FFF2-40B4-BE49-F238E27FC236}">
                <a16:creationId xmlns:a16="http://schemas.microsoft.com/office/drawing/2014/main" id="{FBFE544A-60AB-4338-A38D-FB0CB6E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975" y="57721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联动责任周期形式落地圆角遮罩BR">
            <a:extLst xmlns:a="http://schemas.openxmlformats.org/drawingml/2006/main">
              <a:ext uri="{FF2B5EF4-FFF2-40B4-BE49-F238E27FC236}">
                <a16:creationId xmlns:a16="http://schemas.microsoft.com/office/drawing/2014/main" id="{E06CEF89-3FF5-4219-85A6-3BA12F3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048000" y="57721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联动责任周期形式落地圆角外线">
            <a:extLst xmlns:a="http://schemas.openxmlformats.org/drawingml/2006/main">
              <a:ext uri="{FF2B5EF4-FFF2-40B4-BE49-F238E27FC236}">
                <a16:creationId xmlns:a16="http://schemas.microsoft.com/office/drawing/2014/main" id="{5067868E-EDFC-4FD2-8EEB-914BBD5A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2590800" cy="3943350"/>
          </a:xfrm>
          <a:prstGeom xmlns:a="http://schemas.openxmlformats.org/drawingml/2006/main" prst="roundRect">
            <a:avLst>
              <a:gd name="adj" fmla="val 441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4492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主标题">
            <a:extLst xmlns:a="http://schemas.openxmlformats.org/drawingml/2006/main">
              <a:ext uri="{FF2B5EF4-FFF2-40B4-BE49-F238E27FC236}">
                <a16:creationId xmlns:a16="http://schemas.microsoft.com/office/drawing/2014/main" id="{C27A9D70-6EFA-4B5A-AD5C-9AF452E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2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7.考核落地</a:t>
            </a:r>
          </a:p>
        </p:txBody>
      </p:sp>
      <p:sp>
        <p:nvSpPr>
          <p:cNvPr id="2" name="橘红标题线">
            <a:extLst xmlns:a="http://schemas.openxmlformats.org/drawingml/2006/main">
              <a:ext uri="{FF2B5EF4-FFF2-40B4-BE49-F238E27FC236}">
                <a16:creationId xmlns:a16="http://schemas.microsoft.com/office/drawing/2014/main" id="{E8D63102-1F41-48D9-984F-7E6BB792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7334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A5A26"/>
            </a:solidFill>
            <a:prstDash val="solid"/>
          </a:ln>
        </p:spPr>
      </p:sp>
      <p:sp>
        <p:nvSpPr>
          <p:cNvPr id="3" name="副标题">
            <a:extLst xmlns:a="http://schemas.openxmlformats.org/drawingml/2006/main">
              <a:ext uri="{FF2B5EF4-FFF2-40B4-BE49-F238E27FC236}">
                <a16:creationId xmlns:a16="http://schemas.microsoft.com/office/drawing/2014/main" id="{AFFA5049-E464-4419-96AD-AA70CF96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新增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合规考核</a:t>
            </a:r>
            <a:r>
              <a:rPr sz="1600" b="1">
                <a:ln w="2858">
                  <a:solidFill>
                    <a:srgbClr val="EA5A26"/>
                  </a:solidFill>
                  <a:prstDash val="solid"/>
                </a:ln>
                <a:solidFill>
                  <a:srgbClr val="EA5A26"/>
                </a:solidFill>
                <a:latin typeface="华文楷体"/>
                <a:ea typeface="华文楷体"/>
                <a:cs typeface="华文楷体"/>
              </a:rPr>
              <a:t>加减分</a:t>
            </a: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项，法律合规部发起、问责室统筹</a:t>
            </a:r>
          </a:p>
        </p:txBody>
      </p:sp>
      <p:sp>
        <p:nvSpPr>
          <p:cNvPr id="4" name="整改考核维度运用边框">
            <a:extLst xmlns:a="http://schemas.openxmlformats.org/drawingml/2006/main">
              <a:ext uri="{FF2B5EF4-FFF2-40B4-BE49-F238E27FC236}">
                <a16:creationId xmlns:a16="http://schemas.microsoft.com/office/drawing/2014/main" id="{C42CE355-E7DF-47CF-B3B3-B7A742DC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61035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5" name="整改考核维度运用标题底色">
            <a:extLst xmlns:a="http://schemas.openxmlformats.org/drawingml/2006/main">
              <a:ext uri="{FF2B5EF4-FFF2-40B4-BE49-F238E27FC236}">
                <a16:creationId xmlns:a16="http://schemas.microsoft.com/office/drawing/2014/main" id="{02E25A3E-CA33-473B-B6CF-0364CFDE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65913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整改考核维度运用标题">
            <a:extLst xmlns:a="http://schemas.openxmlformats.org/drawingml/2006/main">
              <a:ext uri="{FF2B5EF4-FFF2-40B4-BE49-F238E27FC236}">
                <a16:creationId xmlns:a16="http://schemas.microsoft.com/office/drawing/2014/main" id="{46F45BE6-99AB-4F82-B5FA-CD439C27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3038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整改考核维度与加减分</a:t>
            </a:r>
          </a:p>
        </p:txBody>
      </p:sp>
      <p:graphicFrame>
        <p:nvGraphicFramePr>
          <p:cNvPr id="7" name="完成率质量加减分原生表">
            <a:extLst xmlns:a="http://schemas.openxmlformats.org/drawingml/2006/main">
              <a:ext uri="{FF2B5EF4-FFF2-40B4-BE49-F238E27FC236}">
                <a16:creationId xmlns:a16="http://schemas.microsoft.com/office/drawing/2014/main" id="{E0790515-DCD8-4764-BD60-A929CB5FC066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6267450" cy="32575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847850"/>
                <a:gridCol w="2476500"/>
                <a:gridCol w="1943100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指标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内容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运用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E3D4"/>
                    </a:solidFill>
                  </a:tcPr>
                </a:tc>
              </a:tr>
              <a:tr h="14097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整改任务完成率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纳入合规考核</a:t>
                      </a: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加减分</a:t>
                      </a: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完成率未达标则</a:t>
                      </a: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扣分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整改任务完成质量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纳入合规考核</a:t>
                      </a: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加减分</a:t>
                      </a: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整改成效突出则</a:t>
                      </a:r>
                      <a:r>
                        <a:rPr sz="1600" b="1">
                          <a:ln w="2858">
                            <a:solidFill>
                              <a:srgbClr val="EA5A26"/>
                            </a:solidFill>
                            <a:prstDash val="solid"/>
                          </a:ln>
                          <a:solidFill>
                            <a:srgbClr val="EA5A26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加分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整改考核组织安排边框">
            <a:extLst xmlns:a="http://schemas.openxmlformats.org/drawingml/2006/main">
              <a:ext uri="{FF2B5EF4-FFF2-40B4-BE49-F238E27FC236}">
                <a16:creationId xmlns:a16="http://schemas.microsoft.com/office/drawing/2014/main" id="{C5E54FDF-C0ED-45EE-B161-BECAF46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09700"/>
            <a:ext cx="459105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C9C9"/>
            </a:solidFill>
            <a:prstDash val="solid"/>
          </a:ln>
        </p:spPr>
      </p:sp>
      <p:sp>
        <p:nvSpPr>
          <p:cNvPr id="9" name="整改考核组织安排标题底色">
            <a:extLst xmlns:a="http://schemas.openxmlformats.org/drawingml/2006/main">
              <a:ext uri="{FF2B5EF4-FFF2-40B4-BE49-F238E27FC236}">
                <a16:creationId xmlns:a16="http://schemas.microsoft.com/office/drawing/2014/main" id="{B79E68AB-E79B-4232-9E81-DDCD9EC3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19225"/>
            <a:ext cx="4572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整改考核组织安排标题">
            <a:extLst xmlns:a="http://schemas.openxmlformats.org/drawingml/2006/main">
              <a:ext uri="{FF2B5EF4-FFF2-40B4-BE49-F238E27FC236}">
                <a16:creationId xmlns:a16="http://schemas.microsoft.com/office/drawing/2014/main" id="{6E767EAE-2F5A-41D8-8FCC-BD722CB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573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600" b="1">
                <a:ln w="2858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组织与安排</a:t>
            </a:r>
          </a:p>
        </p:txBody>
      </p:sp>
      <p:graphicFrame>
        <p:nvGraphicFramePr>
          <p:cNvPr id="11" name="考核发起统筹周期范围">
            <a:extLst xmlns:a="http://schemas.openxmlformats.org/drawingml/2006/main">
              <a:ext uri="{FF2B5EF4-FFF2-40B4-BE49-F238E27FC236}">
                <a16:creationId xmlns:a16="http://schemas.microsoft.com/office/drawing/2014/main" id="{4D6FDAA1-A534-4D94-89C2-A7C6359D0979}"/>
              </a:ext>
            </a:extLst>
          </p:cNvPr>
          <p:cNvGraphicFramePr/>
          <p:nvPr/>
        </p:nvGraphicFramePr>
        <p:xfrm>
          <a:off xmlns:a="http://schemas.openxmlformats.org/drawingml/2006/main" x="7372350" y="1943100"/>
          <a:ext xmlns:a="http://schemas.openxmlformats.org/drawingml/2006/main" cx="4248150" cy="32575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895350"/>
                <a:gridCol w="3352800"/>
              </a:tblGrid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发起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法律合规部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统筹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问责室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配合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监察、专项、远程团队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周期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半年／年度组织。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范围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总部先行，按安排</a:t>
                      </a: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2027年</a:t>
                      </a:r>
                    </a:p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>
                          <a:ln w="2858">
                            <a:solidFill>
                              <a:srgbClr val="333333"/>
                            </a:solidFill>
                            <a:prstDash val="solid"/>
                          </a:ln>
                          <a:solidFill>
                            <a:srgbClr val="333333"/>
                          </a:solidFill>
                          <a:latin typeface="华文楷体"/>
                          <a:ea typeface="华文楷体"/>
                          <a:cs typeface="华文楷体"/>
                        </a:rPr>
                        <a:t>扩展至全国。</a:t>
                      </a:r>
                    </a:p>
                  </a:txBody>
                  <a:tcPr marL="76200" marR="76200" marT="76200" marB="76200" anchor="ctr">
                    <a:lnL w="9525">
                      <a:solidFill>
                        <a:srgbClr val="C7C9C9"/>
                      </a:solidFill>
                      <a:prstDash val="solid"/>
                    </a:lnL>
                    <a:lnR w="9525">
                      <a:solidFill>
                        <a:srgbClr val="C7C9C9"/>
                      </a:solidFill>
                      <a:prstDash val="solid"/>
                    </a:lnR>
                    <a:lnT w="9525">
                      <a:solidFill>
                        <a:srgbClr val="C7C9C9"/>
                      </a:solidFill>
                      <a:prstDash val="solid"/>
                    </a:lnT>
                    <a:lnB w="9525">
                      <a:solidFill>
                        <a:srgbClr val="C7C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新增合规考核模块说明底色">
            <a:extLst xmlns:a="http://schemas.openxmlformats.org/drawingml/2006/main">
              <a:ext uri="{FF2B5EF4-FFF2-40B4-BE49-F238E27FC236}">
                <a16:creationId xmlns:a16="http://schemas.microsoft.com/office/drawing/2014/main" id="{2C73A630-0FD4-45EB-A851-A1BBEAAD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6E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新增合规考核模块说明">
            <a:extLst xmlns:a="http://schemas.openxmlformats.org/drawingml/2006/main">
              <a:ext uri="{FF2B5EF4-FFF2-40B4-BE49-F238E27FC236}">
                <a16:creationId xmlns:a16="http://schemas.microsoft.com/office/drawing/2014/main" id="{B25EB154-5682-4E1C-B8F3-7623FD3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9F4B20"/>
                </a:solidFill>
                <a:latin typeface="华文楷体"/>
                <a:ea typeface="华文楷体"/>
                <a:cs typeface="华文楷体"/>
              </a:defRPr>
            </a:pPr>
            <a:r>
              <a:rPr sz="1700" b="1">
                <a:ln w="2858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华文楷体"/>
                <a:ea typeface="华文楷体"/>
                <a:cs typeface="华文楷体"/>
              </a:rPr>
              <a:t>新增模块：整改任务完成率与完成质量纳入合规考核加减分项</a:t>
            </a:r>
          </a:p>
        </p:txBody>
      </p:sp>
      <p:sp>
        <p:nvSpPr>
          <p:cNvPr id="14" name="统一浅灰页脚">
            <a:extLst xmlns:a="http://schemas.openxmlformats.org/drawingml/2006/main">
              <a:ext uri="{FF2B5EF4-FFF2-40B4-BE49-F238E27FC236}">
                <a16:creationId xmlns:a16="http://schemas.microsoft.com/office/drawing/2014/main" id="{67C557E4-D4E6-48AC-B943-9B55C651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页脚平安橙线">
            <a:extLst xmlns:a="http://schemas.openxmlformats.org/drawingml/2006/main">
              <a:ext uri="{FF2B5EF4-FFF2-40B4-BE49-F238E27FC236}">
                <a16:creationId xmlns:a16="http://schemas.microsoft.com/office/drawing/2014/main" id="{ADFBF176-539B-4110-82E7-79A96BE7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65341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5A26"/>
            </a:solidFill>
            <a:prstDash val="solid"/>
          </a:ln>
        </p:spPr>
      </p:sp>
      <p:sp>
        <p:nvSpPr>
          <p:cNvPr id="16" name="页脚团队">
            <a:extLst xmlns:a="http://schemas.openxmlformats.org/drawingml/2006/main">
              <a:ext uri="{FF2B5EF4-FFF2-40B4-BE49-F238E27FC236}">
                <a16:creationId xmlns:a16="http://schemas.microsoft.com/office/drawing/2014/main" id="{3BCC2DB6-9FB1-4223-A454-06DF3E8C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专项稽核团队</a:t>
            </a:r>
          </a:p>
        </p:txBody>
      </p:sp>
      <p:sp>
        <p:nvSpPr>
          <p:cNvPr id="17" name="页码">
            <a:extLst xmlns:a="http://schemas.openxmlformats.org/drawingml/2006/main">
              <a:ext uri="{FF2B5EF4-FFF2-40B4-BE49-F238E27FC236}">
                <a16:creationId xmlns:a16="http://schemas.microsoft.com/office/drawing/2014/main" id="{2D982F37-165C-4F2A-BC9E-E016634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6103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defPPr>
          </a:lstStyle>
          <a:p xmlns:a="http://schemas.openxmlformats.org/drawingml/2006/main"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rgbClr val="333333"/>
                </a:solidFill>
                <a:latin typeface="华文楷体"/>
                <a:ea typeface="华文楷体"/>
                <a:cs typeface="华文楷体"/>
              </a:defRPr>
            </a:pPr>
            <a:r>
              <a:rPr sz="1000" b="1">
                <a:ln w="1429">
                  <a:solidFill>
                    <a:srgbClr val="333333"/>
                  </a:solidFill>
                  <a:prstDash val="solid"/>
                </a:ln>
                <a:solidFill>
                  <a:srgbClr val="333333"/>
                </a:solidFill>
                <a:latin typeface="华文楷体"/>
                <a:ea typeface="华文楷体"/>
                <a:cs typeface="华文楷体"/>
              </a:rPr>
              <a:t>15 / 15</a:t>
            </a:r>
          </a:p>
        </p:txBody>
      </p:sp>
      <p:sp>
        <p:nvSpPr>
          <p:cNvPr id="19" name="完成率质量加减分原生表圆角遮罩TL">
            <a:extLst xmlns:a="http://schemas.openxmlformats.org/drawingml/2006/main">
              <a:ext uri="{FF2B5EF4-FFF2-40B4-BE49-F238E27FC236}">
                <a16:creationId xmlns:a16="http://schemas.microsoft.com/office/drawing/2014/main" id="{4A6D8767-B35C-4D16-9055-C8E5B4A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完成率质量加减分原生表圆角遮罩TR">
            <a:extLst xmlns:a="http://schemas.openxmlformats.org/drawingml/2006/main">
              <a:ext uri="{FF2B5EF4-FFF2-40B4-BE49-F238E27FC236}">
                <a16:creationId xmlns:a16="http://schemas.microsoft.com/office/drawing/2014/main" id="{D1E99560-8C0C-4B79-B8FC-62F2C00A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724650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完成率质量加减分原生表圆角遮罩BL">
            <a:extLst xmlns:a="http://schemas.openxmlformats.org/drawingml/2006/main">
              <a:ext uri="{FF2B5EF4-FFF2-40B4-BE49-F238E27FC236}">
                <a16:creationId xmlns:a16="http://schemas.microsoft.com/office/drawing/2014/main" id="{07FBCD9F-F338-4B82-9132-3E9BCA58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975" y="50863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完成率质量加减分原生表圆角遮罩BR">
            <a:extLst xmlns:a="http://schemas.openxmlformats.org/drawingml/2006/main">
              <a:ext uri="{FF2B5EF4-FFF2-40B4-BE49-F238E27FC236}">
                <a16:creationId xmlns:a16="http://schemas.microsoft.com/office/drawing/2014/main" id="{9ECCF4C2-29D4-4B4E-A989-CBF3D6AA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724650" y="50863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完成率质量加减分原生表圆角外线">
            <a:extLst xmlns:a="http://schemas.openxmlformats.org/drawingml/2006/main">
              <a:ext uri="{FF2B5EF4-FFF2-40B4-BE49-F238E27FC236}">
                <a16:creationId xmlns:a16="http://schemas.microsoft.com/office/drawing/2014/main" id="{C2BF9394-D796-4915-9F53-6893031F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6267450" cy="3257550"/>
          </a:xfrm>
          <a:prstGeom xmlns:a="http://schemas.openxmlformats.org/drawingml/2006/main" prst="roundRect">
            <a:avLst>
              <a:gd name="adj" fmla="val 350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  <p:sp>
        <p:nvSpPr>
          <p:cNvPr id="24" name="考核发起统筹周期范围圆角遮罩TL">
            <a:extLst xmlns:a="http://schemas.openxmlformats.org/drawingml/2006/main">
              <a:ext uri="{FF2B5EF4-FFF2-40B4-BE49-F238E27FC236}">
                <a16:creationId xmlns:a16="http://schemas.microsoft.com/office/drawing/2014/main" id="{08720747-1238-4785-9342-F0BF6707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2825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考核发起统筹周期范围圆角遮罩TR">
            <a:extLst xmlns:a="http://schemas.openxmlformats.org/drawingml/2006/main">
              <a:ext uri="{FF2B5EF4-FFF2-40B4-BE49-F238E27FC236}">
                <a16:creationId xmlns:a16="http://schemas.microsoft.com/office/drawing/2014/main" id="{F0230143-A41B-4795-ADD1-D4DF731F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506200" y="19335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考核发起统筹周期范围圆角遮罩BL">
            <a:extLst xmlns:a="http://schemas.openxmlformats.org/drawingml/2006/main">
              <a:ext uri="{FF2B5EF4-FFF2-40B4-BE49-F238E27FC236}">
                <a16:creationId xmlns:a16="http://schemas.microsoft.com/office/drawing/2014/main" id="{8B3B4BD2-8E2C-4C07-A659-4A60ABCD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62825" y="50863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考核发起统筹周期范围圆角遮罩BR">
            <a:extLst xmlns:a="http://schemas.openxmlformats.org/drawingml/2006/main">
              <a:ext uri="{FF2B5EF4-FFF2-40B4-BE49-F238E27FC236}">
                <a16:creationId xmlns:a16="http://schemas.microsoft.com/office/drawing/2014/main" id="{B4380C62-39AD-4067-AF27-789D658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506200" y="50863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0"/>
                </a:lnTo>
                <a:lnTo>
                  <a:pt x="123825" y="9525"/>
                </a:lnTo>
                <a:cubicBezTo>
                  <a:pt x="60699" y="9525"/>
                  <a:pt x="9525" y="60699"/>
                  <a:pt x="9525" y="123825"/>
                </a:cubicBez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考核发起统筹周期范围圆角外线">
            <a:extLst xmlns:a="http://schemas.openxmlformats.org/drawingml/2006/main">
              <a:ext uri="{FF2B5EF4-FFF2-40B4-BE49-F238E27FC236}">
                <a16:creationId xmlns:a16="http://schemas.microsoft.com/office/drawing/2014/main" id="{068DADBE-76C9-4C9B-BAEF-762A2FEB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43100"/>
            <a:ext cx="4248150" cy="3257550"/>
          </a:xfrm>
          <a:prstGeom xmlns:a="http://schemas.openxmlformats.org/drawingml/2006/main" prst="roundRect">
            <a:avLst>
              <a:gd name="adj" fmla="val 350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C9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9120785"/>
      </p:ext>
    </p:extLst>
  </p:cSld>
</p:sld>
</file>

<file path=ppt/theme/theme1.xml><?xml version="1.0" encoding="utf-8"?>
<a:theme xmlns:a="http://schemas.openxmlformats.org/drawingml/2006/main" name="ChatGPT">
  <a:themeElements>
    <a:clrScheme name="平安橘红与暖灰">
      <a:dk1>
        <a:srgbClr val="333333"/>
      </a:dk1>
      <a:lt1>
        <a:srgbClr val="FFFFFF"/>
      </a:lt1>
      <a:dk2>
        <a:srgbClr val="9F4B20"/>
      </a:dk2>
      <a:lt2>
        <a:srgbClr val="FFF1E8"/>
      </a:lt2>
      <a:accent1>
        <a:srgbClr val="EA5A26"/>
      </a:accent1>
      <a:accent2>
        <a:srgbClr val="9F4B20"/>
      </a:accent2>
      <a:accent3>
        <a:srgbClr val="FFF1E8"/>
      </a:accent3>
      <a:accent4>
        <a:srgbClr val="888888"/>
      </a:accent4>
      <a:accent5>
        <a:srgbClr val="F2F2F2"/>
      </a:accent5>
      <a:accent6>
        <a:srgbClr val="C7C9C9"/>
      </a:accent6>
      <a:hlink>
        <a:srgbClr val="EA5A26"/>
      </a:hlink>
      <a:folHlink>
        <a:srgbClr val="9F4B20"/>
      </a:folHlink>
    </a:clrScheme>
    <a:fontScheme name="">
      <a:majorFont>
        <a:latin typeface="华文楷体"/>
        <a:ea typeface=""/>
        <a:cs typeface=""/>
      </a:majorFont>
      <a:minorFont>
        <a:latin typeface="华文楷体"/>
        <a:ea typeface=""/>
        <a:cs typeface=""/>
      </a:minorFont>
    </a:fontScheme>
    <a:fmtScheme name="平安橘红与暖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2026-10-12T18:17:10.6510000Z</dcterms:created>
  <dcterms:modified xsi:type="dcterms:W3CDTF">2026-10-12T18:17:10.6510000Z</dcterms:modified>
</coreProperties>
</file>