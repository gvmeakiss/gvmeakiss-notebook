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687dfada2d4ae4" /><Relationship Type="http://schemas.openxmlformats.org/officeDocument/2006/relationships/extended-properties" Target="/docProps/app.xml" Id="R3db8bff869934398" /><Relationship Type="http://schemas.openxmlformats.org/officeDocument/2006/relationships/officeDocument" Target="/ppt/presentation.xml" Id="Ra25657482a024e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e82e232acc4fc4"/>
  </p:sldMasterIdLst>
  <p:notesMasterIdLst>
    <p:notesMasterId xmlns:r="http://schemas.openxmlformats.org/officeDocument/2006/relationships" r:id="R77ca6a7c0b554d99"/>
  </p:notesMasterIdLst>
  <p:sldIdLst>
    <p:sldId xmlns:r="http://schemas.openxmlformats.org/officeDocument/2006/relationships" id="256" r:id="Rd0b8a631c50b459c"/>
    <p:sldId xmlns:r="http://schemas.openxmlformats.org/officeDocument/2006/relationships" id="257" r:id="Rea69fe6685834c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04f7929c3b4824" /><Relationship Type="http://schemas.openxmlformats.org/officeDocument/2006/relationships/slideMaster" Target="/ppt/slideMasters/slideMaster1.xml" Id="Re0e82e232acc4fc4" /><Relationship Type="http://schemas.openxmlformats.org/officeDocument/2006/relationships/notesMaster" Target="/ppt/notesMasters/notesMaster1.xml" Id="R77ca6a7c0b554d99" /><Relationship Type="http://schemas.openxmlformats.org/officeDocument/2006/relationships/presProps" Target="/ppt/presProps.xml" Id="R983c181df7214e41" /><Relationship Type="http://schemas.openxmlformats.org/officeDocument/2006/relationships/tableStyles" Target="/ppt/tableStyles.xml" Id="Rd4f801374f9e4876" /><Relationship Type="http://schemas.openxmlformats.org/officeDocument/2006/relationships/slide" Target="/ppt/slides/slide1.xml" Id="Rd0b8a631c50b459c" /><Relationship Type="http://schemas.openxmlformats.org/officeDocument/2006/relationships/slide" Target="/ppt/slides/slide2.xml" Id="Rea69fe6685834c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41fc7b940847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f1aa9df5354183" /><Relationship Type="http://schemas.openxmlformats.org/officeDocument/2006/relationships/notesMaster" Target="/ppt/notesMasters/notesMaster1.xml" Id="Rc71a5fb7f8a244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68531609164233" /><Relationship Type="http://schemas.openxmlformats.org/officeDocument/2006/relationships/notesMaster" Target="/ppt/notesMasters/notesMaster1.xml" Id="R96e3cee07a1649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为经理修改版PPT第10页及用户2026年10月20日的补充、融合重构意见。将共同的发起接收信息按稽核项目、三函分别列一次，发送时点与反馈时效按四类来源列示。指令函、常规及专项稽核项目为5个工作日，警示函和知询函为10个工作日。材料名称集中在第二页一次展示，保留成因分析随措施一并反馈。本页不重复罗列交付材料、反馈要求和旧邮件报送名单，报送关系在第二页通过OA审批与传阅呈现。未新增时限起算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用户融合重构要求，共同审批人只出现一次，机构端、总部端仅在不同的两个审批环节分支，随后汇合。完整路径仍分别为：项目主审→项目经理→机构法律合规部经理→二级机构一把手→专项稽核团队高级经理→产险审计责任人；项目主审→项目经理→总部法律合规室经理→整改责任部门长→专项稽核团队高级经理→产险审计责任人。之后向条线室经理及问责室经理传阅。两项材料集中在本页列示，原交付材料区和邮件报送名单不再与OA模块重复展示。该展示合并不自行规定邮件制度取消，也不将旧抄送对象逐一等同于新的审批岗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e50e4cd3a4c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98379847a46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00e98d7ca44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e493969e548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c163083eb4b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34616335d47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5BA45D-9150-4433-B413-C44B5C0B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7DE7F7-6CB8-4054-A673-694076163E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50CD0B-6890-4BB1-BDC7-CB3777B95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24A5EA-12AB-4D83-99E3-9AA9A6264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6DA999-04AE-4864-AA19-4C487484C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3A8B29-406C-481B-98D7-C16817C89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88F9B4-FDCF-4A16-8AE3-4FDB2FCEF0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6FAAF6-B350-4636-B028-2C12B3B3E7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2C01C5-48C7-4129-B6DA-DC818AA9E2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990295-AE0E-483C-80A4-3F98A53559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2e9690b8854f41" /><Relationship Type="http://schemas.openxmlformats.org/officeDocument/2006/relationships/slideLayout" Target="/ppt/slideLayouts/slideLayout1.xml" Id="R8629fdd830704110" /><Relationship Type="http://schemas.openxmlformats.org/officeDocument/2006/relationships/slideLayout" Target="/ppt/slideLayouts/slideLayout2.xml" Id="R29795f22a2d74e0f" /><Relationship Type="http://schemas.openxmlformats.org/officeDocument/2006/relationships/slideLayout" Target="/ppt/slideLayouts/slideLayout3.xml" Id="R16bee2429b754731" /><Relationship Type="http://schemas.openxmlformats.org/officeDocument/2006/relationships/slideLayout" Target="/ppt/slideLayouts/slideLayout4.xml" Id="Re1bdf9af24ba412b" /><Relationship Type="http://schemas.openxmlformats.org/officeDocument/2006/relationships/slideLayout" Target="/ppt/slideLayouts/slideLayout5.xml" Id="R5a134a2855354bf0" /><Relationship Type="http://schemas.openxmlformats.org/officeDocument/2006/relationships/slideLayout" Target="/ppt/slideLayouts/slideLayout6.xml" Id="R73f6307c71604f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29fdd830704110"/>
    <p:sldLayoutId xmlns:r="http://schemas.openxmlformats.org/officeDocument/2006/relationships" id="2147483650" r:id="R29795f22a2d74e0f"/>
    <p:sldLayoutId xmlns:r="http://schemas.openxmlformats.org/officeDocument/2006/relationships" id="2147483651" r:id="R16bee2429b754731"/>
    <p:sldLayoutId xmlns:r="http://schemas.openxmlformats.org/officeDocument/2006/relationships" id="2147483652" r:id="Re1bdf9af24ba412b"/>
    <p:sldLayoutId xmlns:r="http://schemas.openxmlformats.org/officeDocument/2006/relationships" id="2147483653" r:id="R5a134a2855354bf0"/>
    <p:sldLayoutId xmlns:r="http://schemas.openxmlformats.org/officeDocument/2006/relationships" id="2147483654" r:id="R73f6307c71604f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753d71dd449cc" /><Relationship Type="http://schemas.openxmlformats.org/officeDocument/2006/relationships/notesSlide" Target="/ppt/notesSlides/notesSlide1.xml" Id="R5d1f4b27f56344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4f4a2a6dd244ca" /><Relationship Type="http://schemas.openxmlformats.org/officeDocument/2006/relationships/notesSlide" Target="/ppt/notesSlides/notesSlide2.xml" Id="Rcc1676a531324f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CCBA0D51-247C-40DD-88B3-F6CD3E8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2475" b="1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01 任务下发—启动与反馈</a:t>
            </a:r>
          </a:p>
        </p:txBody>
      </p:sp>
      <p:sp>
        <p:nvSpPr>
          <p:cNvPr id="2" name="标题下划线">
            <a:extLst xmlns:a="http://schemas.openxmlformats.org/drawingml/2006/main">
              <a:ext uri="{FF2B5EF4-FFF2-40B4-BE49-F238E27FC236}">
                <a16:creationId xmlns:a16="http://schemas.microsoft.com/office/drawing/2014/main" id="{2542992C-50E5-4BBE-8A2B-0B74464B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B13"/>
          </a:solidFill>
          <a:ln xmlns:a="http://schemas.openxmlformats.org/drawingml/2006/main" w="0">
            <a:noFill/>
          </a:ln>
        </p:spPr>
      </p:sp>
      <p:sp>
        <p:nvSpPr>
          <p:cNvPr id="3" name="页脚分隔线">
            <a:extLst xmlns:a="http://schemas.openxmlformats.org/drawingml/2006/main">
              <a:ext uri="{FF2B5EF4-FFF2-40B4-BE49-F238E27FC236}">
                <a16:creationId xmlns:a16="http://schemas.microsoft.com/office/drawing/2014/main" id="{0F6FCFE2-642A-4843-9292-1EEA3EC5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12192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B13"/>
          </a:solidFill>
          <a:ln xmlns:a="http://schemas.openxmlformats.org/drawingml/2006/main" w="0">
            <a:noFill/>
          </a:ln>
        </p:spPr>
      </p:sp>
      <p:sp>
        <p:nvSpPr>
          <p:cNvPr id="4" name="团队署名">
            <a:extLst xmlns:a="http://schemas.openxmlformats.org/drawingml/2006/main">
              <a:ext uri="{FF2B5EF4-FFF2-40B4-BE49-F238E27FC236}">
                <a16:creationId xmlns:a16="http://schemas.microsoft.com/office/drawing/2014/main" id="{0D81D847-C973-43B3-B4C9-0CC162FE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008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1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专项稽核团队</a:t>
            </a:r>
          </a:p>
        </p:txBody>
      </p:sp>
      <p:sp>
        <p:nvSpPr>
          <p:cNvPr id="5" name="页码">
            <a:extLst xmlns:a="http://schemas.openxmlformats.org/drawingml/2006/main">
              <a:ext uri="{FF2B5EF4-FFF2-40B4-BE49-F238E27FC236}">
                <a16:creationId xmlns:a16="http://schemas.microsoft.com/office/drawing/2014/main" id="{5BE64355-8E3E-4E57-9B67-E08D4CEE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1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1/2</a:t>
            </a:r>
          </a:p>
        </p:txBody>
      </p:sp>
      <p:sp>
        <p:nvSpPr>
          <p:cNvPr id="6" name="发起接收标题">
            <a:extLst xmlns:a="http://schemas.openxmlformats.org/drawingml/2006/main">
              <a:ext uri="{FF2B5EF4-FFF2-40B4-BE49-F238E27FC236}">
                <a16:creationId xmlns:a16="http://schemas.microsoft.com/office/drawing/2014/main" id="{64810ACC-432D-49BE-B248-344C9327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875" b="1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发起与接收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BE232-05CF-4836-B6EB-88C0CC3F2EF4}"/>
              </a:ext>
            </a:extLst>
          </p:cNvPr>
          <p:cNvGraphicFramePr/>
          <p:nvPr/>
        </p:nvGraphicFramePr>
        <p:xfrm>
          <a:off xmlns:a="http://schemas.openxmlformats.org/drawingml/2006/main" x="571500" y="1400175"/>
          <a:ext xmlns:a="http://schemas.openxmlformats.org/drawingml/2006/main" cx="11049000" cy="1466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4333875"/>
                <a:gridCol w="4333875"/>
              </a:tblGrid>
              <a:tr h="4381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Kaiti SC"/>
                          <a:ea typeface="Kaiti SC"/>
                          <a:cs typeface="Kaiti SC"/>
                        </a:rPr>
                        <a:t>事项类型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929292"/>
                      </a:solidFill>
                      <a:prstDash val="solid"/>
                    </a:lnL>
                    <a:lnR w="7144">
                      <a:solidFill>
                        <a:srgbClr val="929292"/>
                      </a:solidFill>
                      <a:prstDash val="solid"/>
                    </a:lnR>
                    <a:lnT w="7144">
                      <a:solidFill>
                        <a:srgbClr val="929292"/>
                      </a:solidFill>
                      <a:prstDash val="solid"/>
                    </a:lnT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34716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Kaiti SC"/>
                          <a:ea typeface="Kaiti SC"/>
                          <a:cs typeface="Kaiti SC"/>
                        </a:rPr>
                        <a:t>发起人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T w="7144">
                      <a:solidFill>
                        <a:srgbClr val="929292"/>
                      </a:solidFill>
                      <a:prstDash val="solid"/>
                    </a:lnT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34716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Kaiti SC"/>
                          <a:ea typeface="Kaiti SC"/>
                          <a:cs typeface="Kaiti SC"/>
                        </a:rPr>
                        <a:t>接收对象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T w="7144">
                      <a:solidFill>
                        <a:srgbClr val="929292"/>
                      </a:solidFill>
                      <a:prstDash val="solid"/>
                    </a:lnT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34716"/>
                    </a:solidFill>
                  </a:tcPr>
                </a:tc>
              </a:tr>
              <a:tr h="514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稽核项目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929292"/>
                      </a:solidFill>
                      <a:prstDash val="solid"/>
                    </a:lnL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稽核项目组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被审计单位责任人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三函事项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929292"/>
                      </a:solidFill>
                      <a:prstDash val="solid"/>
                    </a:lnL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三函提交人（主审）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责任部门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时点时效标题">
            <a:extLst xmlns:a="http://schemas.openxmlformats.org/drawingml/2006/main">
              <a:ext uri="{FF2B5EF4-FFF2-40B4-BE49-F238E27FC236}">
                <a16:creationId xmlns:a16="http://schemas.microsoft.com/office/drawing/2014/main" id="{A1F6D423-2475-48AF-8A52-8812979A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875" b="1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发送节点与整改措施反馈时效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1F13E-D134-413C-A456-26BFE8A4599A}"/>
              </a:ext>
            </a:extLst>
          </p:cNvPr>
          <p:cNvGraphicFramePr/>
          <p:nvPr/>
        </p:nvGraphicFramePr>
        <p:xfrm>
          <a:off xmlns:a="http://schemas.openxmlformats.org/drawingml/2006/main" x="571500" y="3419475"/>
          <a:ext xmlns:a="http://schemas.openxmlformats.org/drawingml/2006/main" cx="11049000" cy="2495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5715000"/>
                <a:gridCol w="2667000"/>
              </a:tblGrid>
              <a:tr h="4381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Kaiti SC"/>
                          <a:ea typeface="Kaiti SC"/>
                          <a:cs typeface="Kaiti SC"/>
                        </a:rPr>
                        <a:t>事项来源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929292"/>
                      </a:solidFill>
                      <a:prstDash val="solid"/>
                    </a:lnL>
                    <a:lnR w="7144">
                      <a:solidFill>
                        <a:srgbClr val="929292"/>
                      </a:solidFill>
                      <a:prstDash val="solid"/>
                    </a:lnR>
                    <a:lnT w="7144">
                      <a:solidFill>
                        <a:srgbClr val="929292"/>
                      </a:solidFill>
                      <a:prstDash val="solid"/>
                    </a:lnT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34716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Kaiti SC"/>
                          <a:ea typeface="Kaiti SC"/>
                          <a:cs typeface="Kaiti SC"/>
                        </a:rPr>
                        <a:t>发送时点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T w="7144">
                      <a:solidFill>
                        <a:srgbClr val="929292"/>
                      </a:solidFill>
                      <a:prstDash val="solid"/>
                    </a:lnT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34716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Kaiti SC"/>
                          <a:ea typeface="Kaiti SC"/>
                          <a:cs typeface="Kaiti SC"/>
                        </a:rPr>
                        <a:t>整改措施反馈时效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T w="7144">
                      <a:solidFill>
                        <a:srgbClr val="929292"/>
                      </a:solidFill>
                      <a:prstDash val="solid"/>
                    </a:lnT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34716"/>
                    </a:solidFill>
                  </a:tcPr>
                </a:tc>
              </a:tr>
              <a:tr h="514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常规及专项稽核项目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929292"/>
                      </a:solidFill>
                      <a:prstDash val="solid"/>
                    </a:lnL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处罚小组结束后立即发送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D62B13"/>
                          </a:solidFill>
                          <a:latin typeface="Kaiti SC"/>
                          <a:ea typeface="Kaiti SC"/>
                          <a:cs typeface="Kaiti SC"/>
                        </a:rPr>
                        <a:t>5个工作日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指令函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929292"/>
                      </a:solidFill>
                      <a:prstDash val="solid"/>
                    </a:lnL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评审会通过后发送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D62B13"/>
                          </a:solidFill>
                          <a:latin typeface="Kaiti SC"/>
                          <a:ea typeface="Kaiti SC"/>
                          <a:cs typeface="Kaiti SC"/>
                        </a:rPr>
                        <a:t>5个工作日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警示函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929292"/>
                      </a:solidFill>
                      <a:prstDash val="solid"/>
                    </a:lnL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评审会通过后发送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D62B13"/>
                          </a:solidFill>
                          <a:latin typeface="Kaiti SC"/>
                          <a:ea typeface="Kaiti SC"/>
                          <a:cs typeface="Kaiti SC"/>
                        </a:rPr>
                        <a:t>10个工作日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知询函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929292"/>
                      </a:solidFill>
                      <a:prstDash val="solid"/>
                    </a:lnL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61616"/>
                          </a:solidFill>
                          <a:latin typeface="Kaiti SC"/>
                          <a:ea typeface="Kaiti SC"/>
                          <a:cs typeface="Kaiti SC"/>
                        </a:rPr>
                        <a:t>稽核部公邮发出时同步发送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D62B13"/>
                          </a:solidFill>
                          <a:latin typeface="Kaiti SC"/>
                          <a:ea typeface="Kaiti SC"/>
                          <a:cs typeface="Kaiti SC"/>
                        </a:rPr>
                        <a:t>10个工作日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929292"/>
                      </a:solidFill>
                      <a:prstDash val="solid"/>
                    </a:lnR>
                    <a:lnB w="7144">
                      <a:solidFill>
                        <a:srgbClr val="92929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反馈附带要求">
            <a:extLst xmlns:a="http://schemas.openxmlformats.org/drawingml/2006/main">
              <a:ext uri="{FF2B5EF4-FFF2-40B4-BE49-F238E27FC236}">
                <a16:creationId xmlns:a16="http://schemas.microsoft.com/office/drawing/2014/main" id="{2B61C16B-C25F-46A6-9DE5-E1D1D200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7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成因分析随整改措施一并反馈</a:t>
            </a:r>
          </a:p>
        </p:txBody>
      </p:sp>
    </p:spTree>
    <p:extLst>
      <p:ext uri="{BB962C8B-B14F-4D97-AF65-F5344CB8AC3E}">
        <p14:creationId xmlns:p14="http://schemas.microsoft.com/office/powerpoint/2010/main" val="996191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750707-4A94-48F4-85F3-1056E4B001B0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858500" y="453390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EB2537-6371-499E-99FE-D2735C449B46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7543800" y="4152900"/>
            <a:ext cx="55245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671D0E-FDEC-4D31-9267-97529E140AE3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543800" y="3352800"/>
            <a:ext cx="55245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770101-FD8C-4521-AD69-0791F47A5F6A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581400" y="4152900"/>
            <a:ext cx="51435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570D0E-61BA-421F-8B9A-E150BBB3B9BF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3581400" y="3352800"/>
            <a:ext cx="51435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644EA1-BB3F-4A3A-A335-3AA3AA0D7A79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715500" y="4152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7DEB5-BFD7-4EBE-BDB9-6DCFCAF54225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791200" y="4953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EE325-B4C7-4B24-AE66-D07EC4705C91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791200" y="33528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5961C-4390-4722-958B-1D82C170F64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905000" y="41529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D86EB-29D4-40A3-8EEE-E2BB7BF9D9E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72525" y="13620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3A94F-06E7-4278-A9C4-39C7876E8BE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24550" y="13620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7B204-8E2C-49D7-998B-184994F8CA3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76575" y="13620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F34716"/>
            </a:solidFill>
            <a:tailEnd type="triangle" w="sm" len="sm"/>
          </a:ln>
        </p:spPr>
      </p:cxnSp>
      <p:sp>
        <p:nvSpPr>
          <p:cNvPr id="35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09BB85A-4036-469C-838A-5B2EF9F8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2475" b="1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01 任务下发—OA审批与传阅</a:t>
            </a:r>
          </a:p>
        </p:txBody>
      </p:sp>
      <p:sp>
        <p:nvSpPr>
          <p:cNvPr id="2" name="标题下划线">
            <a:extLst xmlns:a="http://schemas.openxmlformats.org/drawingml/2006/main">
              <a:ext uri="{FF2B5EF4-FFF2-40B4-BE49-F238E27FC236}">
                <a16:creationId xmlns:a16="http://schemas.microsoft.com/office/drawing/2014/main" id="{0BF155D4-4E5B-42DA-A41B-0B52A86F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B13"/>
          </a:solidFill>
          <a:ln xmlns:a="http://schemas.openxmlformats.org/drawingml/2006/main" w="0">
            <a:noFill/>
          </a:ln>
        </p:spPr>
      </p:sp>
      <p:sp>
        <p:nvSpPr>
          <p:cNvPr id="3" name="页脚分隔线">
            <a:extLst xmlns:a="http://schemas.openxmlformats.org/drawingml/2006/main">
              <a:ext uri="{FF2B5EF4-FFF2-40B4-BE49-F238E27FC236}">
                <a16:creationId xmlns:a16="http://schemas.microsoft.com/office/drawing/2014/main" id="{B123A7A4-D584-47B9-8191-0618F84D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12192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B13"/>
          </a:solidFill>
          <a:ln xmlns:a="http://schemas.openxmlformats.org/drawingml/2006/main" w="0">
            <a:noFill/>
          </a:ln>
        </p:spPr>
      </p:sp>
      <p:sp>
        <p:nvSpPr>
          <p:cNvPr id="4" name="团队署名">
            <a:extLst xmlns:a="http://schemas.openxmlformats.org/drawingml/2006/main">
              <a:ext uri="{FF2B5EF4-FFF2-40B4-BE49-F238E27FC236}">
                <a16:creationId xmlns:a16="http://schemas.microsoft.com/office/drawing/2014/main" id="{7C8098AE-A95B-4E31-AF9E-9EAF1468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008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1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专项稽核团队</a:t>
            </a:r>
          </a:p>
        </p:txBody>
      </p:sp>
      <p:sp>
        <p:nvSpPr>
          <p:cNvPr id="5" name="页码">
            <a:extLst xmlns:a="http://schemas.openxmlformats.org/drawingml/2006/main">
              <a:ext uri="{FF2B5EF4-FFF2-40B4-BE49-F238E27FC236}">
                <a16:creationId xmlns:a16="http://schemas.microsoft.com/office/drawing/2014/main" id="{784B2602-9FCB-4990-859B-7406C088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r"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1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2/2</a:t>
            </a:r>
          </a:p>
        </p:txBody>
      </p:sp>
      <p:sp>
        <p:nvSpPr>
          <p:cNvPr id="6" name="前置顺序1">
            <a:extLst xmlns:a="http://schemas.openxmlformats.org/drawingml/2006/main">
              <a:ext uri="{FF2B5EF4-FFF2-40B4-BE49-F238E27FC236}">
                <a16:creationId xmlns:a16="http://schemas.microsoft.com/office/drawing/2014/main" id="{82F8C8FF-3307-467C-BB99-B7FBF373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25050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7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整改措施</a:t>
            </a:r>
          </a:p>
          <a:p xmlns:a="http://schemas.openxmlformats.org/drawingml/2006/main">
            <a: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7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收集完毕</a:t>
            </a:r>
          </a:p>
        </p:txBody>
      </p:sp>
      <p:sp>
        <p:nvSpPr>
          <p:cNvPr id="7" name="前置顺序2">
            <a:extLst xmlns:a="http://schemas.openxmlformats.org/drawingml/2006/main">
              <a:ext uri="{FF2B5EF4-FFF2-40B4-BE49-F238E27FC236}">
                <a16:creationId xmlns:a16="http://schemas.microsoft.com/office/drawing/2014/main" id="{A18C73DB-B785-422C-B10B-6A35345E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047750"/>
            <a:ext cx="25050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7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整改措施定稿</a:t>
            </a:r>
          </a:p>
        </p:txBody>
      </p:sp>
      <p:sp>
        <p:nvSpPr>
          <p:cNvPr id="8" name="前置顺序3">
            <a:extLst xmlns:a="http://schemas.openxmlformats.org/drawingml/2006/main">
              <a:ext uri="{FF2B5EF4-FFF2-40B4-BE49-F238E27FC236}">
                <a16:creationId xmlns:a16="http://schemas.microsoft.com/office/drawing/2014/main" id="{9EC26552-55E8-448F-A716-EC083AAD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47750"/>
            <a:ext cx="25050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7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系统内下发</a:t>
            </a:r>
          </a:p>
          <a:p xmlns:a="http://schemas.openxmlformats.org/drawingml/2006/main">
            <a:pPr algn="ctr">
              <a:defRPr sz="1725" b="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725" b="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整改任务</a:t>
            </a:r>
          </a:p>
        </p:txBody>
      </p:sp>
      <p:sp>
        <p:nvSpPr>
          <p:cNvPr id="9" name="前置顺序4">
            <a:extLst xmlns:a="http://schemas.openxmlformats.org/drawingml/2006/main">
              <a:ext uri="{FF2B5EF4-FFF2-40B4-BE49-F238E27FC236}">
                <a16:creationId xmlns:a16="http://schemas.microsoft.com/office/drawing/2014/main" id="{6F9AC1C5-4F3A-4A9E-83DB-1B5A5067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047750"/>
            <a:ext cx="25050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4716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Kaiti SC"/>
                <a:ea typeface="Kaiti SC"/>
                <a:cs typeface="Kaiti SC"/>
              </a:defRPr>
            </a:pPr>
            <a:r>
              <a:rPr sz="1725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OA审批</a:t>
            </a:r>
          </a:p>
        </p:txBody>
      </p:sp>
      <p:sp>
        <p:nvSpPr>
          <p:cNvPr id="13" name="OA审批材料">
            <a:extLst xmlns:a="http://schemas.openxmlformats.org/drawingml/2006/main">
              <a:ext uri="{FF2B5EF4-FFF2-40B4-BE49-F238E27FC236}">
                <a16:creationId xmlns:a16="http://schemas.microsoft.com/office/drawing/2014/main" id="{519B23CF-1A05-4043-B81A-44C79EC8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875" b="1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审批材料：</a:t>
            </a:r>
            <a:r>
              <a:rPr sz="1875" b="1">
                <a:solidFill>
                  <a:srgbClr val="D62B13"/>
                </a:solidFill>
                <a:latin typeface="Kaiti SC"/>
                <a:ea typeface="Kaiti SC"/>
                <a:cs typeface="Kaiti SC"/>
              </a:rPr>
              <a:t>整改措施通知书</a:t>
            </a:r>
            <a:r>
              <a:rPr sz="1875" b="1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、</a:t>
            </a:r>
            <a:r>
              <a:rPr sz="1875" b="1">
                <a:solidFill>
                  <a:srgbClr val="D62B13"/>
                </a:solidFill>
                <a:latin typeface="Kaiti SC"/>
                <a:ea typeface="Kaiti SC"/>
                <a:cs typeface="Kaiti SC"/>
              </a:rPr>
              <a:t>整改措施表</a:t>
            </a:r>
          </a:p>
        </p:txBody>
      </p:sp>
      <p:sp>
        <p:nvSpPr>
          <p:cNvPr id="14" name="机构端标签">
            <a:extLst xmlns:a="http://schemas.openxmlformats.org/drawingml/2006/main">
              <a:ext uri="{FF2B5EF4-FFF2-40B4-BE49-F238E27FC236}">
                <a16:creationId xmlns:a16="http://schemas.microsoft.com/office/drawing/2014/main" id="{D25C6714-E6F8-42C4-A0B4-81F59DF9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98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pPr>
            <a:r>
              <a:rPr sz="1875" b="1">
                <a:solidFill>
                  <a:srgbClr val="D62B13"/>
                </a:solidFill>
                <a:latin typeface="Kaiti SC"/>
                <a:ea typeface="Kaiti SC"/>
                <a:cs typeface="Kaiti SC"/>
              </a:rPr>
              <a:t>机构端</a:t>
            </a:r>
          </a:p>
        </p:txBody>
      </p:sp>
      <p:sp>
        <p:nvSpPr>
          <p:cNvPr id="15" name="总部端标签">
            <a:extLst xmlns:a="http://schemas.openxmlformats.org/drawingml/2006/main">
              <a:ext uri="{FF2B5EF4-FFF2-40B4-BE49-F238E27FC236}">
                <a16:creationId xmlns:a16="http://schemas.microsoft.com/office/drawing/2014/main" id="{F4E3D7C2-DE28-4545-97EE-9B6C63BC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pPr>
            <a:r>
              <a:rPr sz="1875" b="1">
                <a:solidFill>
                  <a:srgbClr val="D62B13"/>
                </a:solidFill>
                <a:latin typeface="Kaiti SC"/>
                <a:ea typeface="Kaiti SC"/>
                <a:cs typeface="Kaiti SC"/>
              </a:rPr>
              <a:t>总部端</a:t>
            </a:r>
          </a:p>
        </p:txBody>
      </p:sp>
      <p:sp>
        <p:nvSpPr>
          <p:cNvPr id="16" name="共同审批1">
            <a:extLst xmlns:a="http://schemas.openxmlformats.org/drawingml/2006/main">
              <a:ext uri="{FF2B5EF4-FFF2-40B4-BE49-F238E27FC236}">
                <a16:creationId xmlns:a16="http://schemas.microsoft.com/office/drawing/2014/main" id="{7BEC0F93-FE31-4378-AFD4-9B1EA771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33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项目主审</a:t>
            </a:r>
          </a:p>
        </p:txBody>
      </p:sp>
      <p:sp>
        <p:nvSpPr>
          <p:cNvPr id="17" name="共同审批2">
            <a:extLst xmlns:a="http://schemas.openxmlformats.org/drawingml/2006/main">
              <a:ext uri="{FF2B5EF4-FFF2-40B4-BE49-F238E27FC236}">
                <a16:creationId xmlns:a16="http://schemas.microsoft.com/office/drawing/2014/main" id="{23555BC2-5E4C-4958-BD25-B567ECE3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71900"/>
            <a:ext cx="133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项目经理</a:t>
            </a:r>
          </a:p>
        </p:txBody>
      </p:sp>
      <p:sp>
        <p:nvSpPr>
          <p:cNvPr id="18" name="机构端审批3">
            <a:extLst xmlns:a="http://schemas.openxmlformats.org/drawingml/2006/main">
              <a:ext uri="{FF2B5EF4-FFF2-40B4-BE49-F238E27FC236}">
                <a16:creationId xmlns:a16="http://schemas.microsoft.com/office/drawing/2014/main" id="{2B12B396-937A-413F-A526-A3ED2392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16954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机构法律合规部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经理</a:t>
            </a:r>
          </a:p>
        </p:txBody>
      </p:sp>
      <p:sp>
        <p:nvSpPr>
          <p:cNvPr id="19" name="机构端审批4">
            <a:extLst xmlns:a="http://schemas.openxmlformats.org/drawingml/2006/main">
              <a:ext uri="{FF2B5EF4-FFF2-40B4-BE49-F238E27FC236}">
                <a16:creationId xmlns:a16="http://schemas.microsoft.com/office/drawing/2014/main" id="{FFDA1A02-0AC4-4427-AC57-4C178A79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7180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二级机构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一把手</a:t>
            </a:r>
          </a:p>
        </p:txBody>
      </p:sp>
      <p:sp>
        <p:nvSpPr>
          <p:cNvPr id="20" name="总部端审批3">
            <a:extLst xmlns:a="http://schemas.openxmlformats.org/drawingml/2006/main">
              <a:ext uri="{FF2B5EF4-FFF2-40B4-BE49-F238E27FC236}">
                <a16:creationId xmlns:a16="http://schemas.microsoft.com/office/drawing/2014/main" id="{4A691857-2BA6-41CB-AD5D-4C6EB6E9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16954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总部法律合规室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经理</a:t>
            </a:r>
          </a:p>
        </p:txBody>
      </p:sp>
      <p:sp>
        <p:nvSpPr>
          <p:cNvPr id="21" name="总部端审批4">
            <a:extLst xmlns:a="http://schemas.openxmlformats.org/drawingml/2006/main">
              <a:ext uri="{FF2B5EF4-FFF2-40B4-BE49-F238E27FC236}">
                <a16:creationId xmlns:a16="http://schemas.microsoft.com/office/drawing/2014/main" id="{1A933826-C65D-407C-BCE9-8531C9A4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7200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整改责任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部门长</a:t>
            </a:r>
          </a:p>
        </p:txBody>
      </p:sp>
      <p:sp>
        <p:nvSpPr>
          <p:cNvPr id="22" name="共同审批5">
            <a:extLst xmlns:a="http://schemas.openxmlformats.org/drawingml/2006/main">
              <a:ext uri="{FF2B5EF4-FFF2-40B4-BE49-F238E27FC236}">
                <a16:creationId xmlns:a16="http://schemas.microsoft.com/office/drawing/2014/main" id="{E5C0C59F-AAB6-463C-B616-3FFDACEC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专项稽核团队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高级经理</a:t>
            </a:r>
          </a:p>
        </p:txBody>
      </p:sp>
      <p:sp>
        <p:nvSpPr>
          <p:cNvPr id="23" name="共同审批6">
            <a:extLst xmlns:a="http://schemas.openxmlformats.org/drawingml/2006/main">
              <a:ext uri="{FF2B5EF4-FFF2-40B4-BE49-F238E27FC236}">
                <a16:creationId xmlns:a16="http://schemas.microsoft.com/office/drawing/2014/main" id="{8453807E-4D7E-4D85-86F9-A3633858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71900"/>
            <a:ext cx="152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4716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产险审计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650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责任人</a:t>
            </a:r>
          </a:p>
        </p:txBody>
      </p:sp>
      <p:sp>
        <p:nvSpPr>
          <p:cNvPr id="32" name="共同传阅对象">
            <a:extLst xmlns:a="http://schemas.openxmlformats.org/drawingml/2006/main">
              <a:ext uri="{FF2B5EF4-FFF2-40B4-BE49-F238E27FC236}">
                <a16:creationId xmlns:a16="http://schemas.microsoft.com/office/drawing/2014/main" id="{EE5DFF9C-3DD6-47C9-874F-BBE92BF6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4673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EB"/>
          </a:solidFill>
          <a:ln xmlns:a="http://schemas.openxmlformats.org/drawingml/2006/main" w="9525">
            <a:solidFill>
              <a:srgbClr val="E9AA87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defPPr>
            <a:lvl1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1pPr>
            <a:lvl2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2pPr>
            <a:lvl3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3pPr>
            <a:lvl4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4pPr>
            <a:lvl5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5pPr>
            <a:lvl6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6pPr>
            <a:lvl7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7pPr>
            <a:lvl8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8pPr>
            <a:lvl9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725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条线室经理</a:t>
            </a:r>
          </a:p>
          <a:p xmlns:a="http://schemas.openxmlformats.org/drawingml/2006/main">
            <a:pPr algn="ctr">
              <a:defRPr sz="1725">
                <a:solidFill>
                  <a:srgbClr val="161616"/>
                </a:solidFill>
                <a:latin typeface="Kaiti SC"/>
                <a:ea typeface="Kaiti SC"/>
                <a:cs typeface="Kaiti SC"/>
              </a:defRPr>
            </a:pPr>
            <a:r>
              <a:rPr sz="1725">
                <a:solidFill>
                  <a:srgbClr val="161616"/>
                </a:solidFill>
                <a:latin typeface="Kaiti SC"/>
                <a:ea typeface="Kaiti SC"/>
                <a:cs typeface="Kaiti SC"/>
              </a:rPr>
              <a:t>问责室经理</a:t>
            </a:r>
          </a:p>
        </p:txBody>
      </p:sp>
      <p:sp>
        <p:nvSpPr>
          <p:cNvPr id="34" name="传阅关系">
            <a:extLst xmlns:a="http://schemas.openxmlformats.org/drawingml/2006/main">
              <a:ext uri="{FF2B5EF4-FFF2-40B4-BE49-F238E27FC236}">
                <a16:creationId xmlns:a16="http://schemas.microsoft.com/office/drawing/2014/main" id="{CC7B44F5-6D56-4C62-8438-06516629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810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defPPr>
            <a:lvl1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1pPr>
            <a:lvl2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2pPr>
            <a:lvl3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3pPr>
            <a:lvl4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4pPr>
            <a:lvl5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5pPr>
            <a:lvl6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6pPr>
            <a:lvl7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7pPr>
            <a:lvl8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8pPr>
            <a:lvl9pPr algn="l"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D62B13"/>
                </a:solidFill>
                <a:latin typeface="Kaiti SC"/>
                <a:ea typeface="Kaiti SC"/>
                <a:cs typeface="Kaiti SC"/>
              </a:defRPr>
            </a:pPr>
            <a:r>
              <a:rPr sz="1725" b="1">
                <a:solidFill>
                  <a:srgbClr val="D62B13"/>
                </a:solidFill>
                <a:latin typeface="Kaiti SC"/>
                <a:ea typeface="Kaiti SC"/>
                <a:cs typeface="Kaiti SC"/>
              </a:rPr>
              <a:t>传阅</a:t>
            </a:r>
          </a:p>
        </p:txBody>
      </p:sp>
    </p:spTree>
    <p:extLst>
      <p:ext uri="{BB962C8B-B14F-4D97-AF65-F5344CB8AC3E}">
        <p14:creationId xmlns:p14="http://schemas.microsoft.com/office/powerpoint/2010/main" val="1904181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2026-10-20T09:58:20.4370000Z</dcterms:created>
  <dcterms:modified xsi:type="dcterms:W3CDTF">2026-10-20T09:58:20.4370000Z</dcterms:modified>
</coreProperties>
</file>